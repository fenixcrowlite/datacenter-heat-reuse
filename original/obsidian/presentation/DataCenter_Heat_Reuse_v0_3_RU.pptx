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t>Утилизация тепла дата-центра</a:t>
            </a:r>
          </a:p>
          <a:p>
            <a:pPr>
              <a:spcBef>
                <a:spcPts val="1000"/>
              </a:spcBef>
              <a:defRPr sz="2000">
                <a:solidFill>
                  <a:srgbClr val="BFDBFE"/>
                </a:solidFill>
              </a:defRPr>
            </a:pPr>
            <a:r>
              <a:t>Модульная MATLAB/Simulink-модель и годовой эксперимент</a:t>
            </a:r>
          </a:p>
          <a:p>
            <a:pPr>
              <a:spcBef>
                <a:spcPts val="1800"/>
              </a:spcBef>
              <a:defRPr sz="1400">
                <a:solidFill>
                  <a:srgbClr val="CBD5E1"/>
                </a:solidFill>
              </a:defRPr>
            </a:pPr>
            <a:r>
              <a:t>research platform v0.3 | 8760 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1. Исследовательский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Как температура отходящего тепла, температура теплосети и накопитель влияют на COP, покрытие спроса, газовый резерв, стоимость и CO2?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Цель: расширяемая платформа, которую можно калибровать под Bratislava / Frankfurt / Espoo.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2. Литературная основа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Espoo: годовые сценарии утилизации тепла.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Frankfurt: 144 GWh/a, 37 MWth HP + 20 MWth gas + storage.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Hiltunen &amp; Syri: ценность liquid cooling и более высокой температуры источника.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Varna / THUNDER: storage и exergy как следующий уровень модели.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3. Модульная архитектура v0.3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IT 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12264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DC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3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Heat exchanger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9824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Heat pump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95744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Dispatch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41664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District heating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057400"/>
            <a:ext cx="13258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6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87584" y="2286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Backup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Каждый физический блок имеет отдельный интерфейс и может быть заменён без переписывания всей модели.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4. Математическое ядро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Источник: Qsrc = ηrec*PIT. Теплообменник: QHX = min(εHX*Qsrc,Qmax).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Тепловой насос: COP ~ ηC*Th/(Th-Tc).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Накопитель: E(k+1)=E(k)(1-λΔt)+ηcQcΔt-QdΔt/ηd.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Эксергия: ExQ=Q(1-T0/T).</a:t>
            </a:r>
          </a:p>
        </p:txBody>
      </p:sp>
      <p:pic>
        <p:nvPicPr>
          <p:cNvPr id="4" name="Picture 3" descr="09_lift_cop_coverag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120640" cy="326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5. Годовой эксперимент v0.3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10 MW IT | 8760 h | synthetic Bratislava-like weather</a:t>
            </a:r>
          </a:p>
        </p:txBody>
      </p:sp>
      <p:pic>
        <p:nvPicPr>
          <p:cNvPr id="4" name="Picture 3" descr="08_scenario_comparis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34440"/>
            <a:ext cx="7955279" cy="50713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6. Чувствительность Tsource x Tsupply</a:t>
            </a:r>
          </a:p>
        </p:txBody>
      </p:sp>
      <p:pic>
        <p:nvPicPr>
          <p:cNvPr id="3" name="Picture 2" descr="11_cop_map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394960" cy="3822607"/>
          </a:xfrm>
          <a:prstGeom prst="rect">
            <a:avLst/>
          </a:prstGeom>
        </p:spPr>
      </p:pic>
      <p:pic>
        <p:nvPicPr>
          <p:cNvPr id="4" name="Picture 3" descr="12_coverage_map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394960" cy="3835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864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F2937"/>
                </a:solidFill>
              </a:defRPr>
            </a:pPr>
            <a:r>
              <a:t>Левая карта показывает COP, правая - покрытие спроса. Оптимумы не обязаны совпадать.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7. Накопитель: полезность и diminishing returns</a:t>
            </a:r>
          </a:p>
        </p:txBody>
      </p:sp>
      <p:pic>
        <p:nvPicPr>
          <p:cNvPr id="3" name="Picture 2" descr="13_storage_tradeoff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80160"/>
            <a:ext cx="7498079" cy="46559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2520" y="16459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Небольшой storage сглаживает часы и сутки.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Для сезонного переноса нужен другой масштаб и отдельная модель потерь.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8. Валидация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Автотесты проверяют баланс теплосети, границы SOC, диапазон COP, неотрицательные потоки и ограничение доступного тепла.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v0.1 сохранён как regression baseline.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v1.0 потребует реальных weather/load/temperature/telemetry данных.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A"/>
                </a:solidFill>
              </a:defRPr>
            </a:pPr>
            <a:r>
              <a:t>9.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v0.3: теплообменник UA/LMTD или ε-NTU, гидравлика, manufacturer HP map.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v0.4: CAPEX/NPV/LCOH, Monte-Carlo, Morris/Sobol.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v0.5: LP/MILP/MPC dispatch с прогнозом погоды, цены и нагрузки.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v1.0: calibrated case + telemetry + Simscape + Telegram/app.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63A"/>
                </a:solidFill>
              </a:defRPr>
            </a:pPr>
            <a:r>
              <a:t>11. Устойчивость результата к допущениям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200 сценарных прогонов вокруг Warm45 + 100 MWh storage</a:t>
            </a:r>
          </a:p>
        </p:txBody>
      </p:sp>
      <p:pic>
        <p:nvPicPr>
          <p:cNvPr id="4" name="Picture 3" descr="14_uncertainty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720840" cy="43462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417320"/>
            <a:ext cx="3886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Median COP: 6.25; P05-P95: 5.45-6.67.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Median heat coverage: 81.9%; P05-P95: 77.8-85.4%.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Median OPEX saving: 2.47 MEUR/year при сценарных ценах.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Median simple payback: 5.23 years; P05-P95: 3.75-9.80 years.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</a:defRPr>
            </a:pPr>
            <a:r>
              <a:t>Интервалы показывают sensitivity reference-case, а не статистическую гарантию для реального объекта.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63A"/>
                </a:solidFill>
              </a:defRPr>
            </a:pPr>
            <a:r>
              <a:t>12. Что уже доказано моделью и что нужно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Граница между reference study и calibrated engineering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Проверено: энергетический баланс, SOC/COP limits и направленные физические зависимости.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Показано: temperature lift - центральная связь между cooling architecture, DH temperature и electricity use.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Показано: storage улучшает temporal matching, но его размер должен оптимизироваться по CAPEX и сезонности.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Следующий шаг: реальные weather/load/supply-return/DC telemetry + manufacturer heat-pump map.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После калибровки: LP/MILP/MPC dispatch, seasonal storage, hydraulics, NPV/ownership и Bratislava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417320"/>
            <a:ext cx="4069080" cy="4297680"/>
          </a:xfrm>
          <a:prstGeom prst="roundRect">
            <a:avLst/>
          </a:prstGeom>
          <a:solidFill>
            <a:srgbClr val="F4F7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645920"/>
            <a:ext cx="356616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3263A"/>
                </a:solidFill>
              </a:defRPr>
            </a:pPr>
            <a:r>
              <a:t>Литературные опорные точки</a:t>
            </a:r>
          </a:p>
          <a:p>
            <a:pPr>
              <a:spcAft>
                <a:spcPts val="800"/>
              </a:spcAft>
              <a:defRPr b="0" sz="960">
                <a:solidFill>
                  <a:srgbClr val="1F2937"/>
                </a:solidFill>
              </a:defRPr>
            </a:pPr>
            <a:r>
              <a:t>Wahlroos et al. (2017): Espoo, annual DH dispatch, 20-60 MW waste heat.</a:t>
            </a:r>
          </a:p>
          <a:p>
            <a:pPr>
              <a:spcAft>
                <a:spcPts val="800"/>
              </a:spcAft>
              <a:defRPr b="0" sz="960">
                <a:solidFill>
                  <a:srgbClr val="1F2937"/>
                </a:solidFill>
              </a:defRPr>
            </a:pPr>
            <a:r>
              <a:t>Jurgens et al. (2024): Frankfurt, 144 GWh/a, 37 MWth HP + 20 MWth gas, 97.5% coverage case.</a:t>
            </a:r>
          </a:p>
          <a:p>
            <a:pPr>
              <a:spcAft>
                <a:spcPts val="800"/>
              </a:spcAft>
              <a:defRPr b="0" sz="960">
                <a:solidFill>
                  <a:srgbClr val="1F2937"/>
                </a:solidFill>
              </a:defRPr>
            </a:pPr>
            <a:r>
              <a:t>Hiltunen &amp; Syri (2021): Espoo, роль low-temperature waste heat и HP.</a:t>
            </a:r>
          </a:p>
          <a:p>
            <a:pPr>
              <a:spcAft>
                <a:spcPts val="800"/>
              </a:spcAft>
              <a:defRPr b="0" sz="960">
                <a:solidFill>
                  <a:srgbClr val="1F2937"/>
                </a:solidFill>
              </a:defRPr>
            </a:pPr>
            <a:r>
              <a:t>Verzino et al. (2026): Varna/THUNDER, exergy + thermochemical storage + 3GDH.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9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