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>
              <a:gd name="adj" fmla="val 9375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65" kern="0" dirty="0">
                <a:solidFill>
                  <a:srgbClr val="9CC3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WASTE HEAT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216152"/>
            <a:ext cx="10012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Тепло, которое</a:t>
            </a:r>
            <a:endParaRPr lang="en-US" sz="43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обычно теряется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94944" y="3657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BDF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серверный центр может согревать бассейн и городскую теплосеть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85800" y="5230368"/>
            <a:ext cx="10799064" cy="0"/>
          </a:xfrm>
          <a:prstGeom prst="line">
            <a:avLst/>
          </a:prstGeom>
          <a:noFill/>
          <a:ln w="12700">
            <a:solidFill>
              <a:srgbClr val="55707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544068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D9E3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Инженерное исследование • MATLAB / Simulink • Сценарий 2025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72600" y="5468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AFBF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OCT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95360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87384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162288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54312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729216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296144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488168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863072" y="2523744"/>
            <a:ext cx="393192" cy="722376"/>
          </a:xfrm>
          <a:prstGeom prst="roundRect">
            <a:avLst>
              <a:gd name="adj" fmla="val 34884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55096" y="3227832"/>
            <a:ext cx="0" cy="192024"/>
          </a:xfrm>
          <a:prstGeom prst="line">
            <a:avLst/>
          </a:prstGeom>
          <a:noFill/>
          <a:ln w="16510">
            <a:solidFill>
              <a:srgbClr val="8CB0AC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СЛОВАРЬ ПРОЕКТА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Шесть слов, без которых дальше сложно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 разговора: серверы выделяют тепло, а мы изучаем способы его полезного применения.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Дата-центр (ЦОД)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Здание с серверами, сетями и системами питания и охлаждения.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468880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633472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87752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IT-нагрузка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944368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Электрическая мощность собственно серверов; здесь пик принят 10 МВт.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Сбросное тепло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Тепло, которое всё равно требуется отводить от оборудования.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53912" y="3648456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813048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767328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Контур теплоносителя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123944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Трубы, насосы и жидкость, которая переносит тепло.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4944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Теплообменник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Передаёт тепло между разделёнными потоками воды.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53912" y="4828032"/>
            <a:ext cx="5340096" cy="1042416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992624"/>
            <a:ext cx="41148" cy="685800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946904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Теплосеть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303520"/>
            <a:ext cx="48188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Общая система подачи тепла зданиям через горячую воду.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СЛОВАРЬ ПРОЕКТА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система доставляет тепло и защищается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Часть понятий относится к эффективности, часть — к безопасности серверов.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94944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Рекуперация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696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Повторное использование тепла, которое иначе было бы сброшено.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153912" y="2432304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596896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55664" y="2542032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 (ТН)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5664" y="2898648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 счёт электричества поднимает температуру тепла до нужной.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694944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Накопитель 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696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Запасает тепло и сглаживает разницу между спросом и подачей.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153912" y="3566160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730752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675888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Газовый резерв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55664" y="4032504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Даёт недостающее тепло, если мощностей системы не хватает.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94944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0392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6696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Резервирование N+1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6696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рабочим машинам добавлена одна резервная на случай отказа.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6153912" y="4700016"/>
            <a:ext cx="5340096" cy="1014984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864608"/>
            <a:ext cx="41148" cy="649224"/>
          </a:xfrm>
          <a:prstGeom prst="rect">
            <a:avLst>
              <a:gd name="adj" fmla="val 33333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4809744"/>
            <a:ext cx="4864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SCADA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55664" y="5166360"/>
            <a:ext cx="481888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Экран наблюдения и управления: температура, потоки, аварии, тренды.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713232" y="5934456"/>
            <a:ext cx="10826496" cy="429768"/>
          </a:xfrm>
          <a:prstGeom prst="roundRect">
            <a:avLst>
              <a:gd name="adj" fmla="val 31915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" y="6062472"/>
            <a:ext cx="10415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Важно: 1 МВт — мощность в данный момент. 1 МВт·ч — энергия за час при такой мощности.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ПЕРЕМЕННЫХ · 1/2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Шесть величин на схемах и графиках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 — поток энергии за секунду; °C — температура. Это не те же самые единицы, что MWh.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ОБОЗНАЧЕНИЕ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ПОКАЗЫВАЕТ И КАК ПОЛУЧЕНО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Электрическая мощность серверов; профиль нагрузки задан моделью.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Q_avail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Доступное для рекуперации серверное тепло; расчёт, не счётчик.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Q_pool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Полезный нагрев воды бассейна, включая возможный вклад ТН.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Q_DH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Полезная мощность теплового насоса, поданная в теплосеть.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P_HP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Электрическая мощность компрессора теплового насоса.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T_pool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°C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 воды; здесь вычисляется Simulink, не измеряется.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теплового насоса: полезное тепло = тепло источника + электричество компрессора.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 ПЕРЕМЕННЫХ · 2/2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Энергия за год и коэффициенты эффективности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числа у ERF — не ошибка: показатель нельзя выдавать за измеренный без приборов.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50592"/>
            <a:ext cx="10808208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" y="2459736"/>
            <a:ext cx="10789920" cy="466344"/>
          </a:xfrm>
          <a:prstGeom prst="rect">
            <a:avLst>
              <a:gd name="adj" fmla="val 29412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ОБОЗНАЧЕНИЕ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ЕДИНИЦА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87952" y="2560320"/>
            <a:ext cx="6931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ПОКАЗЫВАЕТ И КАК ПОЛУЧЕНО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0358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98648" y="303580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87952" y="301752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Энергия IT за период; в проекте получена из расчётного профиля.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731520" y="3451860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52958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898648" y="3529584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87952" y="3511296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Вся энергия центра: серверы плюс инженерные системы; пока оценка.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E_src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898648" y="402336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MWh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87952" y="4005072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Отобранное серверное тепло за год; не нормативный ERF.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31520" y="4439412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51713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898648" y="4517136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87952" y="4498848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Сколько полезного тепла даёт ТН на единицу электроэнергии.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914400" y="50109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898648" y="501091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87952" y="4992624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E_DC / E_IT; здесь 1,36 принято как сценарий, не замер.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31520" y="5426964"/>
            <a:ext cx="10762488" cy="484632"/>
          </a:xfrm>
          <a:prstGeom prst="rect">
            <a:avLst>
              <a:gd name="adj" fmla="val 28302"/>
            </a:avLst>
          </a:prstGeom>
          <a:solidFill>
            <a:srgbClr val="F4F1EB"/>
          </a:solidFill>
          <a:ln w="12700">
            <a:solidFill>
              <a:srgbClr val="F4F1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504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ERF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898648" y="550468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87952" y="5486400"/>
            <a:ext cx="6949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8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повторно использованной энергии по установленной границе ЦОД; нет приборов.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713232" y="6035040"/>
            <a:ext cx="10808208" cy="356616"/>
          </a:xfrm>
          <a:prstGeom prst="roundRect">
            <a:avLst>
              <a:gd name="adj" fmla="val 38462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" y="6085332"/>
            <a:ext cx="10378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7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Данные: ПРИНЯТО (10 МВт, PUE) · РАССЧИТАНО (Simulink) · НЕ ИЗМЕРЕНО (ERF, реальный COP).</a:t>
            </a:r>
            <a:endParaRPr lang="en-US" sz="10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 производят не только вычисления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Практически вся потреблённая электрическая энергия в итоге превращается в тепло.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675888" cy="3447288"/>
          </a:xfrm>
          <a:prstGeom prst="roundRect">
            <a:avLst>
              <a:gd name="adj" fmla="val 3979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8163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5100" dirty="0"/>
          </a:p>
        </p:txBody>
      </p:sp>
      <p:sp>
        <p:nvSpPr>
          <p:cNvPr id="13" name="Text 11"/>
          <p:cNvSpPr/>
          <p:nvPr/>
        </p:nvSpPr>
        <p:spPr>
          <a:xfrm>
            <a:off x="941832" y="3849624"/>
            <a:ext cx="298094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предполагаемая</a:t>
            </a:r>
            <a:endParaRPr lang="en-US" sz="19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1900" dirty="0">
                <a:solidFill>
                  <a:srgbClr val="C3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пиковая IT-мощность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681728" y="2432304"/>
            <a:ext cx="6720840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2651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 нужно охлаждать 24/7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956048" y="3246120"/>
            <a:ext cx="6035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Даже если бассейну и городу тепло не нужно.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81728" y="4041648"/>
            <a:ext cx="6720840" cy="1801368"/>
          </a:xfrm>
          <a:prstGeom prst="roundRect">
            <a:avLst>
              <a:gd name="adj" fmla="val 761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270248"/>
            <a:ext cx="6126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Обычный путь — отдать тепло в атмосферу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974336" y="4882896"/>
            <a:ext cx="5934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 вопрос: какую часть можно использовать повторно, не ухудшая безопасность IT?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КОНЦЕПЦИЯ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идея: у тепла появляется второй адрес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вместо охлаждения серверов, а параллельно с ним.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33272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Дата-центр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Греет техническую воду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03904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15384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71416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471416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Рекуперация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80560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Передаёт тепло через контуры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242048" y="3657600"/>
            <a:ext cx="356616" cy="0"/>
          </a:xfrm>
          <a:prstGeom prst="line">
            <a:avLst/>
          </a:prstGeom>
          <a:noFill/>
          <a:ln w="3429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53528" y="2743200"/>
            <a:ext cx="2990088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09560" y="29718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09560" y="350215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Полезный нагрев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18704" y="4032504"/>
            <a:ext cx="25146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Бассейн + теплосеть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" y="5120640"/>
            <a:ext cx="10424160" cy="603504"/>
          </a:xfrm>
          <a:prstGeom prst="roundRect">
            <a:avLst>
              <a:gd name="adj" fmla="val 22727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48656"/>
            <a:ext cx="10012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Резервное охлаждение остаётся независимым от продажи тепла.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устроена система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отбираем доступное серверное тепло. Затем распределяем его по реальной потребности.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642616"/>
            <a:ext cx="2779776" cy="1143000"/>
          </a:xfrm>
          <a:prstGeom prst="roundRect">
            <a:avLst>
              <a:gd name="adj" fmla="val 12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898648"/>
            <a:ext cx="2377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 / охлаждение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13632" y="2642616"/>
            <a:ext cx="2523744" cy="1143000"/>
          </a:xfrm>
          <a:prstGeom prst="roundRect">
            <a:avLst>
              <a:gd name="adj" fmla="val 12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2926080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контур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3218688"/>
            <a:ext cx="457200" cy="0"/>
          </a:xfrm>
          <a:prstGeom prst="line">
            <a:avLst/>
          </a:prstGeom>
          <a:noFill/>
          <a:ln w="3302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58584" y="2359152"/>
            <a:ext cx="4270248" cy="1033272"/>
          </a:xfrm>
          <a:prstGeom prst="roundRect">
            <a:avLst>
              <a:gd name="adj" fmla="val 13274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14616" y="2651760"/>
            <a:ext cx="3694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 → теплосеть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958584" y="3730752"/>
            <a:ext cx="42702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14616" y="4005072"/>
            <a:ext cx="3703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Теплообменник → бассейн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37376" y="3209544"/>
            <a:ext cx="484632" cy="-33832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46520" y="3209544"/>
            <a:ext cx="475488" cy="932688"/>
          </a:xfrm>
          <a:prstGeom prst="line">
            <a:avLst/>
          </a:prstGeom>
          <a:noFill/>
          <a:ln w="3302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4663440"/>
            <a:ext cx="5797296" cy="896112"/>
          </a:xfrm>
          <a:prstGeom prst="roundRect">
            <a:avLst>
              <a:gd name="adj" fmla="val 15306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928616"/>
            <a:ext cx="5422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Независимое резервное охлаждение IT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029968" y="3794760"/>
            <a:ext cx="0" cy="868680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931152" y="5001768"/>
            <a:ext cx="4343400" cy="713232"/>
          </a:xfrm>
          <a:prstGeom prst="roundRect">
            <a:avLst>
              <a:gd name="adj" fmla="val 19231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51297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любой аварии теплообменника или сети серверы должны продолжать охлаждаться.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ГОДОВОЙ БАЛАНС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получилось за расчётный год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Энергия серверов разделена на повторно использованное и отведённое тепло.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25877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8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71.8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95528" y="3438144"/>
            <a:ext cx="384962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IT-тепла за год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00016" y="2798064"/>
            <a:ext cx="6574536" cy="576072"/>
          </a:xfrm>
          <a:prstGeom prst="roundRect">
            <a:avLst>
              <a:gd name="adj" fmla="val 23810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2798064"/>
            <a:ext cx="3503113" cy="576072"/>
          </a:xfrm>
          <a:prstGeom prst="rect">
            <a:avLst>
              <a:gd name="adj" fmla="val 2381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3129" y="2798064"/>
            <a:ext cx="3071423" cy="576072"/>
          </a:xfrm>
          <a:prstGeom prst="rect">
            <a:avLst>
              <a:gd name="adj" fmla="val 2381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3675888"/>
            <a:ext cx="2514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27448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использовано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02752" y="3675888"/>
            <a:ext cx="25054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02752" y="44256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отведено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5321808"/>
            <a:ext cx="10552176" cy="512064"/>
          </a:xfrm>
          <a:prstGeom prst="roundRect">
            <a:avLst>
              <a:gd name="adj" fmla="val 267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2416" y="5449824"/>
            <a:ext cx="10140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энергетический баланс модели. Он не является официальным измеренным ERF.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ОСНОВА РАСЧЁТА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Откуда взялись числа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Сильная сторона исследования — воспроизводимость. Ограничение — отсутствие реальной телеметрии объекта.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" y="241401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256032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Погода: реальные внешние данные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0704" y="291693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Братислава • 8760 часов 2025 года. Это сеточная реаналитика.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07608" y="2414016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258775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2560320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Серверы: сценарная нагрузка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27648" y="2916936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Профиль мощности и доля извлекаемого тепла заданы моделью, а не счётчиками.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0664" y="384048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8678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Физика: MATLAB / Simulink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0704" y="434340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 источника, бассейн, насосы, накопитель и газовый резерв с шагом 5 минут.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07608" y="3840480"/>
            <a:ext cx="508406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401421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3986784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Проверка: независимый QA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27648" y="4343400"/>
            <a:ext cx="4581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Верифицированы балансы и 420 480 записей четырёх годовых вариантов.</a:t>
            </a:r>
            <a:endParaRPr lang="en-US" sz="12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ПОГОДА И СПРОС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Зимой тепло нужно намного больше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Сценарный спрос сети рассчитан из часовой температуры воздуха в Братиславе за 2025 год.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5458968"/>
            <a:ext cx="10561320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33856" y="3218688"/>
            <a:ext cx="521208" cy="2240280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813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3345292"/>
            <a:ext cx="521208" cy="2113676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98064" y="4002511"/>
            <a:ext cx="521208" cy="1456457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5234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0168" y="4544323"/>
            <a:ext cx="521208" cy="914645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8444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4719765"/>
            <a:ext cx="521208" cy="739203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94376" y="5052424"/>
            <a:ext cx="521208" cy="406544"/>
          </a:xfrm>
          <a:prstGeom prst="rect">
            <a:avLst>
              <a:gd name="adj" fmla="val 33738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4865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5054125"/>
            <a:ext cx="521208" cy="404843"/>
          </a:xfrm>
          <a:prstGeom prst="rect">
            <a:avLst>
              <a:gd name="adj" fmla="val 3388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58584" y="5039462"/>
            <a:ext cx="521208" cy="419506"/>
          </a:xfrm>
          <a:prstGeom prst="rect">
            <a:avLst>
              <a:gd name="adj" fmla="val 3269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12864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90688" y="4949089"/>
            <a:ext cx="521208" cy="509879"/>
          </a:xfrm>
          <a:prstGeom prst="rect">
            <a:avLst>
              <a:gd name="adj" fmla="val 269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4968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622792" y="4391180"/>
            <a:ext cx="521208" cy="1067788"/>
          </a:xfrm>
          <a:prstGeom prst="rect">
            <a:avLst>
              <a:gd name="adj" fmla="val 26316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77072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54896" y="3731977"/>
            <a:ext cx="521208" cy="172699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9176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287000" y="3297617"/>
            <a:ext cx="521208" cy="2161351"/>
          </a:xfrm>
          <a:prstGeom prst="rect">
            <a:avLst>
              <a:gd name="adj" fmla="val 26316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0" y="5532120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2368296"/>
            <a:ext cx="8503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Суммарное тепло для теплосети по месяцам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" y="3008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53675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4672" y="5870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тыс. МВт·ч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ТЕПЛОСЕТЬ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Кто покрывает годовую потребность тепла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 даёт основную часть. Газовая котельная закрывает дефицит и пики.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6384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56.8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86384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потребность сети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98848" y="2432304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498848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выработка ТН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56448" y="2432304"/>
            <a:ext cx="2743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156448" y="294436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ГВт·ч резервного тепла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215384"/>
            <a:ext cx="8573723" cy="676656"/>
          </a:xfrm>
          <a:prstGeom prst="rect">
            <a:avLst>
              <a:gd name="adj" fmla="val 2027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88123" y="4215384"/>
            <a:ext cx="1649269" cy="676656"/>
          </a:xfrm>
          <a:prstGeom prst="rect">
            <a:avLst>
              <a:gd name="adj" fmla="val 2027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5184648"/>
            <a:ext cx="137160" cy="137160"/>
          </a:xfrm>
          <a:prstGeom prst="rect">
            <a:avLst>
              <a:gd name="adj" fmla="val 1000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5157216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Газовый резерв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" y="5733288"/>
            <a:ext cx="10195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 и накопитель работают по времени: суммы потоков могут отличаться от чистого спроса из-за зарядки и разрядки TES.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ПРАКТИЧЕСКИЙ ПРИМЕР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Бассейн: понятный результат для людей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Принята геометрия 25 × 12,5 × 1,6 м. Это исследовательское допущение, не универсальный спортивный стандарт.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87168"/>
            <a:ext cx="4187952" cy="3127248"/>
          </a:xfrm>
          <a:prstGeom prst="roundRect">
            <a:avLst>
              <a:gd name="adj" fmla="val 4386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7008" y="2953512"/>
            <a:ext cx="3273552" cy="1380744"/>
          </a:xfrm>
          <a:prstGeom prst="roundRect">
            <a:avLst>
              <a:gd name="adj" fmla="val 9934"/>
            </a:avLst>
          </a:prstGeom>
          <a:solidFill>
            <a:srgbClr val="80C6C7"/>
          </a:solidFill>
          <a:ln w="19050">
            <a:solidFill>
              <a:srgbClr val="267F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08176" y="3246120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408176" y="3502152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408176" y="3758184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408176" y="4014216"/>
            <a:ext cx="2871216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61288" y="46268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× 12.5 × 1.6 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04104" y="25054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m³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404104" y="30175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вместимость воды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9328" y="2505456"/>
            <a:ext cx="2788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kW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339328" y="3017520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мощность нагрева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22392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5422392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МВт·ч тепла в год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105656"/>
            <a:ext cx="2834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321040" y="46177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 по модели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ФИЗИКА БАССЕЙНА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бассейн теряет и получает тепло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включает теплоёмкость воды, испарение, конвекцию, излучение и подпитку.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10689336" cy="288036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Изменение температуры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3273552"/>
            <a:ext cx="9966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ΔT = (Qin − Qloss) · Δt / (ρ · V · cp)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1051560" y="4050792"/>
            <a:ext cx="10085832" cy="0"/>
          </a:xfrm>
          <a:prstGeom prst="line">
            <a:avLst/>
          </a:prstGeom>
          <a:noFill/>
          <a:ln w="127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97280" y="4306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Qin: подвод тепла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62856" y="43068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Qloss: потери тепла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7032" y="430682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V: объём воды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" y="5550408"/>
            <a:ext cx="10570464" cy="621792"/>
          </a:xfrm>
          <a:prstGeom prst="roundRect">
            <a:avLst>
              <a:gd name="adj" fmla="val 2205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5678424"/>
            <a:ext cx="10158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Чехол на поверхности снижает испарение, а вместе с ним и теплопотери.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 РЕЖИМА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°C: напрямую. 25 °C: с компрессором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Достаточна ли температура серверного теплоносителя — ключевой вопрос для выбора оборудования.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487168"/>
            <a:ext cx="5239512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2761488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°C</a:t>
            </a:r>
            <a:endParaRPr lang="en-US" sz="3100" dirty="0"/>
          </a:p>
        </p:txBody>
      </p:sp>
      <p:sp>
        <p:nvSpPr>
          <p:cNvPr id="13" name="Shape 11"/>
          <p:cNvSpPr/>
          <p:nvPr/>
        </p:nvSpPr>
        <p:spPr>
          <a:xfrm>
            <a:off x="3364992" y="2889504"/>
            <a:ext cx="2121408" cy="310896"/>
          </a:xfrm>
          <a:prstGeom prst="roundRect">
            <a:avLst>
              <a:gd name="adj" fmla="val 44118"/>
            </a:avLst>
          </a:prstGeom>
          <a:solidFill>
            <a:srgbClr val="CFE2DF"/>
          </a:solidFill>
          <a:ln w="12700">
            <a:solidFill>
              <a:srgbClr val="CFE2D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916936"/>
            <a:ext cx="190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Прямой обмен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188720" y="3776472"/>
            <a:ext cx="3922776" cy="0"/>
          </a:xfrm>
          <a:prstGeom prst="line">
            <a:avLst/>
          </a:prstGeom>
          <a:noFill/>
          <a:ln w="27940">
            <a:solidFill>
              <a:srgbClr val="267F7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69848" y="3977640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49624" y="3977640"/>
            <a:ext cx="1645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Бассейн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70916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отдельного компрессора бассейна, если теплообменник реально обеспечивает нужный напор.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8776" y="2487168"/>
            <a:ext cx="5248656" cy="3035808"/>
          </a:xfrm>
          <a:prstGeom prst="roundRect">
            <a:avLst>
              <a:gd name="adj" fmla="val 451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761488"/>
            <a:ext cx="19751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°C</a:t>
            </a:r>
            <a:endParaRPr lang="en-US" sz="3100" dirty="0"/>
          </a:p>
        </p:txBody>
      </p:sp>
      <p:sp>
        <p:nvSpPr>
          <p:cNvPr id="21" name="Shape 19"/>
          <p:cNvSpPr/>
          <p:nvPr/>
        </p:nvSpPr>
        <p:spPr>
          <a:xfrm>
            <a:off x="8705088" y="288950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1DDCE"/>
          </a:solidFill>
          <a:ln w="12700">
            <a:solidFill>
              <a:srgbClr val="F1DDC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14816" y="2916936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3776472"/>
            <a:ext cx="4005072" cy="0"/>
          </a:xfrm>
          <a:prstGeom prst="line">
            <a:avLst/>
          </a:prstGeom>
          <a:noFill/>
          <a:ln w="27940">
            <a:solidFill>
              <a:srgbClr val="C77049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83096" y="3977640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Источник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68512" y="3977640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Компрессор → бассейн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45079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Требуется электричество; COP=4 — предположение модели, не результат заводских испытаний.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ОТКУДА БЕРЁТСЯ ЭНЕРГИЯ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 не создаёт тепло из ничего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25 °C источник приносит часть тепла, а компрессор добавляет электрическую энергию.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88136" y="2834640"/>
            <a:ext cx="6809858" cy="1024128"/>
          </a:xfrm>
          <a:prstGeom prst="rect">
            <a:avLst>
              <a:gd name="adj" fmla="val 13393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7994" y="2834640"/>
            <a:ext cx="2269953" cy="1024128"/>
          </a:xfrm>
          <a:prstGeom prst="rect">
            <a:avLst>
              <a:gd name="adj" fmla="val 13393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3063240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187.6 MWh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430768" y="3072384"/>
            <a:ext cx="15727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52144" y="4078224"/>
            <a:ext cx="3931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Серверное тепло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62672" y="4078224"/>
            <a:ext cx="27340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Электроэнергия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4937760"/>
            <a:ext cx="6126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250.1 MWh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990088" y="558698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полезного тепла бассейну за год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НАСОС ТЕПЛОСЕТИ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важен COP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показывает, сколько полезного тепла получаем на единицу электроэнергии.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96896"/>
            <a:ext cx="5001768" cy="2496312"/>
          </a:xfrm>
          <a:prstGeom prst="roundRect">
            <a:avLst>
              <a:gd name="adj" fmla="val 5495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6424" y="2962656"/>
            <a:ext cx="4498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 ≈ 4.90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133856" y="3904488"/>
            <a:ext cx="4416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CEE0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получено по синтетической формуле Карно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2596896"/>
            <a:ext cx="5358384" cy="2496312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935224"/>
            <a:ext cx="43891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47.8 GWh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45936" y="361188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 для сети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45936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2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9.74 GWh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105656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электроэнергия компрессора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" y="5349240"/>
            <a:ext cx="10515600" cy="603504"/>
          </a:xfrm>
          <a:prstGeom prst="roundRect">
            <a:avLst>
              <a:gd name="adj" fmla="val 227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3272" y="5477256"/>
            <a:ext cx="10104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COP и мощность при температуре источника 25–35 °C и подаче 70 °C должен подтвердить производитель.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ОБОРУДОВАНИЕ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Какое оборудование потребуется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Здесь не готовая спецификация, а проверяемые требования к поставщикам.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8716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3347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Бассейн: пластинчатый теплообменник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 кВт; при 35/32 ↔ 27,5/29,5 °C нужна условная площадь около 25 м².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487168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6090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33472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Теплосеть: модульные ТН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990088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или Oilon; количество машин только после заводского подбора по COP и мощности.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78224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Насосы и измерения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34840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43,2 м³/ч на первичной стороне бассейна и 64,8 м³/ч на вторичной в расчётной точке.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31920"/>
            <a:ext cx="5056632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05656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78224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Охлаждение серверов отдельно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34840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Отвод полной мощности 10 МВт без потребителей тепла, с резервом N+1.</a:t>
            </a:r>
            <a:endParaRPr lang="en-US" sz="12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КАТАЛОГА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Паспортные 1,57 МВт не равны нашим 1,57 МВт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Заводской номинал относится к конкретной точке испытаний. Наши температуры другие.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542032"/>
            <a:ext cx="50932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 MW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96112" y="3054096"/>
            <a:ext cx="5093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Carrier 61XWH-ZE17: максимум опубликованной точки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3952" y="2542032"/>
            <a:ext cx="47365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+ 1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473952" y="305409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условных машин для станции 9,42 МВт + резерв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4270248"/>
            <a:ext cx="10552176" cy="1152144"/>
          </a:xfrm>
          <a:prstGeom prst="roundRect">
            <a:avLst>
              <a:gd name="adj" fmla="val 11905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4535424"/>
            <a:ext cx="9939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Испытательная точка: источник 20/15 °C → потребитель 70/75 °C.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33272" y="5614416"/>
            <a:ext cx="100218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наших 35/30 °C → 50/70 °C требуется отдельный расчёт производителя. Схема 6+1 — пока сравнение, не заказ.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не обязательно покупать максимум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сравниваем пиковые часы, потери и стоимость резервного газа.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" y="2642616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MW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76856" y="2596896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6243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10 303 MWh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6112" y="3401568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MW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76856" y="3355848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76856" y="3355848"/>
            <a:ext cx="2996971" cy="429768"/>
          </a:xfrm>
          <a:prstGeom prst="roundRect">
            <a:avLst>
              <a:gd name="adj" fmla="val 31915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383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2 564 MWh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160520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276856" y="4114800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76856" y="4114800"/>
            <a:ext cx="79793" cy="429768"/>
          </a:xfrm>
          <a:prstGeom prst="roundRect">
            <a:avLst>
              <a:gd name="adj" fmla="val 171895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4142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2,74 MWh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919472"/>
            <a:ext cx="10789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76856" y="4873752"/>
            <a:ext cx="6263640" cy="429768"/>
          </a:xfrm>
          <a:prstGeom prst="roundRect">
            <a:avLst>
              <a:gd name="adj" fmla="val 31915"/>
            </a:avLst>
          </a:prstGeom>
          <a:solidFill>
            <a:srgbClr val="E7ECEA"/>
          </a:solidFill>
          <a:ln w="12700">
            <a:solidFill>
              <a:srgbClr val="E7ECE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76856" y="4873752"/>
            <a:ext cx="0" cy="429768"/>
          </a:xfrm>
          <a:prstGeom prst="roundRect">
            <a:avLst>
              <a:gd name="adj" fmla="val Infinity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9011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MWh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05256" y="5788152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Дополнительное тепло от газа за год, если ограничить рабочую мощность ТН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ЭКОНОМИКА БАССЕЙНА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Самый простой вариант — пока и самый выгодный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Сравнение с отдельным газовым нагревом того же бассейна. Цены Eurostat SK 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6384" y="2523744"/>
            <a:ext cx="4983480" cy="2139696"/>
          </a:xfrm>
          <a:prstGeom prst="roundRect">
            <a:avLst>
              <a:gd name="adj" fmla="val 641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871216"/>
            <a:ext cx="4434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€12,307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1060704" y="3749040"/>
            <a:ext cx="43799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энергии в год: прямой теплообмен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53328" y="2523744"/>
            <a:ext cx="5157216" cy="2139696"/>
          </a:xfrm>
          <a:prstGeom prst="roundRect">
            <a:avLst>
              <a:gd name="adj" fmla="val 641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2871216"/>
            <a:ext cx="462686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5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€4,280</a:t>
            </a:r>
            <a:endParaRPr lang="en-US" sz="3500" dirty="0"/>
          </a:p>
        </p:txBody>
      </p:sp>
      <p:sp>
        <p:nvSpPr>
          <p:cNvPr id="16" name="Text 14"/>
          <p:cNvSpPr/>
          <p:nvPr/>
        </p:nvSpPr>
        <p:spPr>
          <a:xfrm>
            <a:off x="6300216" y="3749040"/>
            <a:ext cx="4517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экономия энергии в год: отдельный ТН бассейна (COP=4)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5157216"/>
            <a:ext cx="10378440" cy="649224"/>
          </a:xfrm>
          <a:prstGeom prst="roundRect">
            <a:avLst>
              <a:gd name="adj" fmla="val 21127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285232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цифры не включены стоимость установки, сервис, дополнительная вентиляция и реальные тарифы договора.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 ОБ ИНВЕСТИЦИИ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Цена оборудования может перевернуть результат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Прямой теплообмен: NPV за 20 лет при 6% дисконте; сценарные бюджеты, не предложения рынка.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207008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35608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€45k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173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+€71k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4718304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€75k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928616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+€34k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229600" y="2633472"/>
            <a:ext cx="3154680" cy="219456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€110k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39912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NPV €-9k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225296" y="5294376"/>
            <a:ext cx="9838944" cy="685800"/>
          </a:xfrm>
          <a:prstGeom prst="roundRect">
            <a:avLst>
              <a:gd name="adj" fmla="val 2000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44752" y="5422392"/>
            <a:ext cx="94274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наших допущениях порог нулевого NPV — примерно 103 тыс. € установленной стоимости.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 И БЕЗОПАСНОСТЬ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Комфорт бассейна — и жёсткое ограничение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использует небольшой запас до опубликованного температурного предела.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88720" y="3602736"/>
            <a:ext cx="9692640" cy="0"/>
          </a:xfrm>
          <a:prstGeom prst="line">
            <a:avLst/>
          </a:prstGeom>
          <a:noFill/>
          <a:ln w="7620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7488936" y="3364992"/>
            <a:ext cx="0" cy="475488"/>
          </a:xfrm>
          <a:prstGeom prst="line">
            <a:avLst/>
          </a:prstGeom>
          <a:noFill/>
          <a:ln w="24130">
            <a:solidFill>
              <a:srgbClr val="267F7C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167421" y="3172968"/>
            <a:ext cx="0" cy="713232"/>
          </a:xfrm>
          <a:prstGeom prst="line">
            <a:avLst/>
          </a:prstGeom>
          <a:noFill/>
          <a:ln w="254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555126" y="3236976"/>
            <a:ext cx="0" cy="731520"/>
          </a:xfrm>
          <a:prstGeom prst="line">
            <a:avLst/>
          </a:prstGeom>
          <a:noFill/>
          <a:ln w="25400">
            <a:solidFill>
              <a:srgbClr val="122E39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942832" y="3136392"/>
            <a:ext cx="0" cy="786384"/>
          </a:xfrm>
          <a:prstGeom prst="line">
            <a:avLst/>
          </a:prstGeom>
          <a:noFill/>
          <a:ln w="38100">
            <a:solidFill>
              <a:srgbClr val="C77049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715060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29093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16798" y="40325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27.80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04504" y="4261104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4782312"/>
            <a:ext cx="44805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27.62 °C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225296" y="546811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максимум за год в Simulink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7731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датчик, инерция клапана и действующая правовая норма ещё не испытаны.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ОТКАЗОУСТОЙЧИВОСТЬ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 если никто не принимает тепло?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Серверы работают независимо от расписания бассейна и спроса теплосети.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5528" y="2542032"/>
            <a:ext cx="5093208" cy="2743200"/>
          </a:xfrm>
          <a:prstGeom prst="roundRect">
            <a:avLst>
              <a:gd name="adj" fmla="val 5000"/>
            </a:avLst>
          </a:prstGeom>
          <a:solidFill>
            <a:srgbClr val="0E2530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80360"/>
            <a:ext cx="4370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MW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106424" y="3959352"/>
            <a:ext cx="4334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dirty="0">
                <a:solidFill>
                  <a:srgbClr val="C8D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расчётный отвод IT-тепла должен сохраняться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9632" y="2551176"/>
            <a:ext cx="5065776" cy="1078992"/>
          </a:xfrm>
          <a:prstGeom prst="roundRect">
            <a:avLst>
              <a:gd name="adj" fmla="val 12712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8529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1,727 m³/h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91656" y="3374136"/>
            <a:ext cx="4590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перепад воды 5 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3886200"/>
            <a:ext cx="5065776" cy="1408176"/>
          </a:xfrm>
          <a:prstGeom prst="roundRect">
            <a:avLst>
              <a:gd name="adj" fmla="val 974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16966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48472" y="4169664"/>
            <a:ext cx="258775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резервировать хотя бы отказ одного модуля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5568696"/>
            <a:ext cx="10351008" cy="548640"/>
          </a:xfrm>
          <a:prstGeom prst="roundRect">
            <a:avLst>
              <a:gd name="adj" fmla="val 25000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5696712"/>
            <a:ext cx="9939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Тепловой буфер не гарантирует расход воды. Для насосов нужны резервирование и UPS.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СЦЕНАРИИ ОТКАЗОВ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Хорошая модель должна уметь показать опасность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Независимая модель охлаждения: 6 сценариев по 1 часу, шаг 5 секунд, буфер 10 м³.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272" y="2670048"/>
            <a:ext cx="219456" cy="219456"/>
          </a:xfrm>
          <a:prstGeom prst="ellipse">
            <a:avLst>
              <a:gd name="adj" fmla="val 62500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81328" y="2578608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 включился через 30 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52360" y="2587752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Допустимый режим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" y="3438144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334670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Резерв через 5 минут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3355848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Перегрев обнаружен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4005072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272" y="4206240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41148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Мощность снижена в жару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52360" y="4123944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Дефицит обнаружен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4773168"/>
            <a:ext cx="10543032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3272" y="4974336"/>
            <a:ext cx="219456" cy="219456"/>
          </a:xfrm>
          <a:prstGeom prst="ellipse">
            <a:avLst>
              <a:gd name="adj" fmla="val 62500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488289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Отказ циркуляционного насоса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4892040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расхода — авария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9264" y="5870448"/>
            <a:ext cx="10195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Опасные сценарии получили статус выявленного отказа, а не ложный «успех».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КАЧЕСТВО ДОКАЗАТЕЛЬСТВ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Проверить модель — не значит сертифицировать объект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проекте есть нормативный реестр. Пункты соответствия пока не закрыты без полных текстов и испытаний.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66928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49808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метрики с формулами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64992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7872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3547872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нормативных требований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5936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345936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юзкейсов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61120" y="2523744"/>
            <a:ext cx="2670048" cy="1024128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660904"/>
            <a:ext cx="23042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0" y="311810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стандартизованных сигналов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023360"/>
            <a:ext cx="10488168" cy="1216152"/>
          </a:xfrm>
          <a:prstGeom prst="roundRect">
            <a:avLst>
              <a:gd name="adj" fmla="val 11278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3856" y="43342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1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36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3730752" y="4416552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прошли проверки по симуляции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918704" y="4343400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705088" y="4389120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остались заблокированы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" y="5559552"/>
            <a:ext cx="10469880" cy="585216"/>
          </a:xfrm>
          <a:prstGeom prst="roundRect">
            <a:avLst>
              <a:gd name="adj" fmla="val 23438"/>
            </a:avLst>
          </a:prstGeom>
          <a:solidFill>
            <a:srgbClr val="F1DDCE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6875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PUE=1,36 — сценарное значение. Официальные ERF и WUE требуют счётчиков.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ПРИМЕНЕНИЕ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проект даёт разным участникам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обычного посетителя всё сводится к тёплой воде. Для оператора — к контролируемой инженерной системе.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2505456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51760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Посетитель бассейна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9848" y="3008376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Комфортная вода и потенциальное снижение энергетических расходов объекта.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35040" y="250545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267919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26517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Оператор бассейна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0083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 расхода тепла, контроль температуры, резервный сценарий.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49808" y="3950208"/>
            <a:ext cx="5065776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096512"/>
            <a:ext cx="4608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Оператор дата-центра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9848" y="4453128"/>
            <a:ext cx="4562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Рекуперация без компромисса по резервному охлаждению серверов.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35040" y="3950208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99632" y="4123944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409651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Теплосеть / город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55080" y="44531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Дополнительный источник тепла и меньше газового резерва в модели.</a:t>
            </a:r>
            <a:endParaRPr lang="en-US" sz="12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ДАЛЬНЕЙШИЕ ШАГИ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симуляции к техническому проекту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 должен проходить последовательные проверки, а не перепрыгивать сразу к закупке.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68096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Измерить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41832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IT-нагрузку, температуру, расход, E_IT/E_DC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66160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Подобрать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39896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ТН и теплообменник по заводским кривым COP и мощности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64224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Спроектировать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37960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Насосы, схемы труб, UPS, резервное охлаждение, защиту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62288" y="2615184"/>
            <a:ext cx="2615184" cy="2423160"/>
          </a:xfrm>
          <a:prstGeom prst="roundRect">
            <a:avLst>
              <a:gd name="adj" fmla="val 5660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36024" y="2916936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900" b="1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Испытать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336024" y="3749040"/>
            <a:ext cx="2176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Проверки отказов, юридические нормы, приемка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413248"/>
            <a:ext cx="10588752" cy="630936"/>
          </a:xfrm>
          <a:prstGeom prst="roundRect">
            <a:avLst>
              <a:gd name="adj" fmla="val 21739"/>
            </a:avLst>
          </a:prstGeom>
          <a:solidFill>
            <a:srgbClr val="CFE2D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6696" y="5541264"/>
            <a:ext cx="101772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 нет результатов заводского подбора и испытаний, решение о закупке принимать рано.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57200"/>
            <a:ext cx="6400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b="1" spc="130" kern="0" dirty="0">
                <a:solidFill>
                  <a:srgbClr val="9EC4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307592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уже поняли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86384" y="2578608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53312" y="2487168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Серверное тепло действительно можно распределять между несколькими потребителями.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86384" y="3474720"/>
            <a:ext cx="329184" cy="329184"/>
          </a:xfrm>
          <a:prstGeom prst="ellipse">
            <a:avLst>
              <a:gd name="adj" fmla="val 4166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3383280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Прямой нагрев бассейна при 35 °C выглядит проще и экономичнее отдельного ТН.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86384" y="4370832"/>
            <a:ext cx="329184" cy="329184"/>
          </a:xfrm>
          <a:prstGeom prst="ellipse">
            <a:avLst>
              <a:gd name="adj" fmla="val 4166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4279392"/>
            <a:ext cx="9811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800" dirty="0">
                <a:solidFill>
                  <a:srgbClr val="E8F0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Рекуперация никогда не должна быть единственной системой охлаждения дата-центра.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5879592"/>
            <a:ext cx="10570464" cy="0"/>
          </a:xfrm>
          <a:prstGeom prst="line">
            <a:avLst/>
          </a:prstGeom>
          <a:noFill/>
          <a:ln w="12700">
            <a:solidFill>
              <a:srgbClr val="4E6570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22960" y="6044184"/>
            <a:ext cx="95097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B9CC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Исследовательский вывод, а не разрешение на строительство.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1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50" b="1" spc="120" kern="0" dirty="0">
                <a:solidFill>
                  <a:srgbClr val="267F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CENTRE  /  HEAT REUSE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0808208" y="256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1000" b="1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76072" y="612648"/>
            <a:ext cx="11036808" cy="0"/>
          </a:xfrm>
          <a:prstGeom prst="line">
            <a:avLst/>
          </a:prstGeom>
          <a:noFill/>
          <a:ln w="9525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000" b="1" spc="110" kern="0" dirty="0">
                <a:solidFill>
                  <a:srgbClr val="C770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ВОПРОСОВ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179576"/>
            <a:ext cx="10991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0E25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читать цифры этой презентации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3504" y="1837944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Все ключевые величины взяты из сохранённых выходов модели и отдельно помечены по статусу.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6464808"/>
            <a:ext cx="10972800" cy="0"/>
          </a:xfrm>
          <a:prstGeom prst="line">
            <a:avLst/>
          </a:prstGeom>
          <a:noFill/>
          <a:ln w="7620">
            <a:solidFill>
              <a:srgbClr val="CED6D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94360" y="6519672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81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2025 · исследование, не измерения объекта</a:t>
            </a:r>
            <a:endParaRPr lang="en-US" sz="810" dirty="0"/>
          </a:p>
        </p:txBody>
      </p:sp>
      <p:sp>
        <p:nvSpPr>
          <p:cNvPr id="10" name="Text 8"/>
          <p:cNvSpPr/>
          <p:nvPr/>
        </p:nvSpPr>
        <p:spPr>
          <a:xfrm>
            <a:off x="10826496" y="6519672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3000"/>
              </a:lnSpc>
              <a:buNone/>
            </a:pPr>
            <a:r>
              <a:rPr lang="en-US" sz="800" dirty="0">
                <a:solidFill>
                  <a:srgbClr val="8D9C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23.10.2026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31520" y="245973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060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РАССЧИТАНО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96265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 год, 8760 часов, Simulink, 300-секундный шаг, независимые балансы.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6062472" y="245973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7064" y="263347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60604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ПРИНЯТО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82512" y="296265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МВт IT, PUE=1,36, COP по модели, бюджет оборудования, 500 м³.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731520" y="3922776"/>
            <a:ext cx="50749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C77049"/>
          </a:solidFill>
          <a:ln w="12700">
            <a:solidFill>
              <a:srgbClr val="C7704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69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ЕЩЁ НУЖНО ДОКАЗАТЬ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51560" y="44256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Заводские мощности и COP, реальные измерения, безопасность и нормативы.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6062472" y="3922776"/>
            <a:ext cx="5038344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8890">
            <a:solidFill>
              <a:srgbClr val="CED6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4096512"/>
            <a:ext cx="50292" cy="777240"/>
          </a:xfrm>
          <a:prstGeom prst="rect">
            <a:avLst>
              <a:gd name="adj" fmla="val 272727"/>
            </a:avLst>
          </a:prstGeom>
          <a:solidFill>
            <a:srgbClr val="267F7C"/>
          </a:solidFill>
          <a:ln w="12700">
            <a:solidFill>
              <a:srgbClr val="267F7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4069080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122E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ОСНОВНЫЕ ИСТОЧНИКИ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82512" y="4425696"/>
            <a:ext cx="4535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1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NASA POWER • Eurostat SK • Carrier / Eurovent • EU 2024/1364 • STN EN 15288.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822960" y="5623560"/>
            <a:ext cx="10561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A6F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Сопроводительные файлы: MATLAB/Simulink, KPI CSV/JSON, 56 нормативных пунктов, 36 юзкейсов и QA.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Independent research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Тепло дата-центра: от серверов к бассейну и теплосети</dc:title>
  <dc:subject>Data-centre waste heat: 10 MW IT, district heating and swimming pool — model-based feasibility study</dc:subject>
  <dc:creator>Engineering Research</dc:creator>
  <cp:lastModifiedBy>Engineering Research</cp:lastModifiedBy>
  <cp:revision>1</cp:revision>
  <dcterms:created xsi:type="dcterms:W3CDTF">2026-10-23T16:26:27Z</dcterms:created>
  <dcterms:modified xsi:type="dcterms:W3CDTF">2026-10-23T16:26:27Z</dcterms:modified>
</cp:coreProperties>
</file>