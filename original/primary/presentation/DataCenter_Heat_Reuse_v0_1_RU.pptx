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5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РЈС‚РёР»РёР·Р°С†РёСЏ С‚РµРїР»Р° РґР°С‚Р°-С†РµРЅС‚СЂР°</a:t>
            </a:r>
          </a:p>
          <a:p>
            <a:pPr>
              <a:defRPr sz="2100">
                <a:solidFill>
                  <a:srgbClr val="BFDBFE"/>
                </a:solidFill>
              </a:defRPr>
            </a:pPr>
            <a:r>
              <a:t>РњРѕРґСѓР»СЊРЅР°СЏ РјР°С‚РµРјР°С‚РёС‡РµСЃРєР°СЏ РјРѕРґРµР»СЊ, MATLAB/Simulink Рё СЃС†РµРЅР°СЂРЅС‹Р№ СЌРєСЃРїРµСЂРёРјРµРЅС‚</a:t>
            </a:r>
          </a:p>
          <a:p>
            <a:pPr>
              <a:spcBef>
                <a:spcPts val="1800"/>
              </a:spcBef>
              <a:defRPr sz="1400">
                <a:solidFill>
                  <a:srgbClr val="CBD5E1"/>
                </a:solidFill>
              </a:defRPr>
            </a:pPr>
            <a:r>
              <a:t>Engineering reference model v0.1 В· 8760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1. Р—Р°РґР°С‡Р° Рё РёСЃСЃР»РµРґРѕРІР°С‚РµР»СЊСЃРєРёР№ РІРѕРїСЂРѕСЃ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E293B"/>
                </a:solidFill>
              </a:defRPr>
            </a:pPr>
            <a:r>
              <a:t>Р”Р°С‚Р°-С†РµРЅС‚СЂ СЃРѕР·РґР°С‘С‚ РїРѕС‡С‚Рё РїРѕСЃС‚РѕСЏРЅРЅС‹Р№ РїРѕС‚РѕРє РЅРёР·РєРѕРїРѕС‚РµРЅС†РёР°Р»СЊРЅРѕРіРѕ С‚РµРїР»Р°, Р° РіРѕСЂРѕРґСЃРєРѕР№ СЃРїСЂРѕСЃ СЃРёР»СЊРЅРѕ РјРµРЅСЏРµС‚СЃСЏ РїРѕ СЃРµР·РѕРЅСѓ.</a:t>
            </a:r>
          </a:p>
          <a:p>
            <a:pPr>
              <a:spcAft>
                <a:spcPts val="1100"/>
              </a:spcAft>
              <a:defRPr sz="1900">
                <a:solidFill>
                  <a:srgbClr val="1E293B"/>
                </a:solidFill>
              </a:defRPr>
            </a:pPr>
            <a:r>
              <a:t>РљР»СЋС‡РµРІРѕР№ РІРѕРїСЂРѕСЃ: РєРѕРіРґР° С‚РµРїР»Рѕ С‚РµС…РЅРёС‡РµСЃРєРё Рё СЌРєРѕРЅРѕРјРёС‡РµСЃРєРё РІС‹РіРѕРґРЅРѕ РїРѕРґРЅСЏС‚СЊ С‚РµРїР»РѕРІС‹Рј РЅР°СЃРѕСЃРѕРј Рё РѕС‚РґР°С‚СЊ РІ Р¦Рў?</a:t>
            </a:r>
          </a:p>
          <a:p>
            <a:pPr>
              <a:spcAft>
                <a:spcPts val="1100"/>
              </a:spcAft>
              <a:defRPr sz="1900">
                <a:solidFill>
                  <a:srgbClr val="1E293B"/>
                </a:solidFill>
              </a:defRPr>
            </a:pPr>
            <a:r>
              <a:t>РњРѕРґРµР»СЊ РґРѕР»Р¶РЅР° РїРѕР·РІРѕР»СЏС‚СЊ РјРµРЅСЏС‚СЊ cooling technology, heat pump, storage, С‚РµРїР»РѕСЃРµС‚СЊ Рё СЃС‚СЂР°С‚РµРіРёСЋ СѓРїСЂР°РІР»РµРЅРёСЏ РЅРµР·Р°РІРёСЃРёРјРѕ РґСЂСѓРі РѕС‚ РґСЂСѓРіР°.</a:t>
            </a:r>
          </a:p>
          <a:p>
            <a:pPr>
              <a:spcAft>
                <a:spcPts val="1100"/>
              </a:spcAft>
              <a:defRPr sz="1900">
                <a:solidFill>
                  <a:srgbClr val="1E293B"/>
                </a:solidFill>
              </a:defRPr>
            </a:pPr>
            <a:r>
              <a:t>v0.1 РЅРµ РєРѕРїРёСЂСѓРµС‚ РѕРґРёРЅ РєРµР№СЃ, Р° СЃРѕР·РґР°С‘С‚ РІРѕСЃРїСЂРѕРёР·РІРѕРґРёРјСѓСЋ РїР»Р°С‚С„РѕСЂРјСѓ РґР»СЏ РїРѕСЃР»РµРґСѓСЋС‰РµР№ РєР°Р»РёР±СЂРѕРІРєРё.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2. РќР° С‡С‘Рј РѕСЃРЅРѕРІР°РЅР° Р°СЂС…РёС‚РµРєС‚СѓСЂР° РјРѕРґРµР»Рё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РљР»СЋС‡РµРІС‹Рµ РєРµР№СЃС‹ РёР· РёСЃС…РѕРґРЅРѕРіРѕ СЃРїРёСЃРєР° РёР· 31 СЂР°Р±РѕС‚С‹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Espoo (Wahlroos et al., 2017): СЃРёСЃС‚РµРјРЅР°СЏ РіРѕРґРѕРІР°СЏ СЃРёРјСѓР»СЏС†РёСЏ 20вЂ“60 MW waste heat; &gt;95% С‡Р°СЃРѕРІ РёСЃРїРѕР»СЊР·РѕРІР°РЅРёСЏ РІ СЂР°СЃСЃРјРѕС‚СЂРµРЅРЅС‹С… СЃС†РµРЅР°СЂРёСЏС….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Frankfurt (JГјrgens et al., 2024): 144 GWh/a, 37 MWth HP + 20 MWth gas + peak storage; 97.5% РїРѕРєСЂС‹С‚РёСЏ РІ РёСЃСЃР»РµРґСѓРµРјРѕРј РєРµР№СЃРµ.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Varna / THUNDER (Verzino et al., 2026): heat pump + thermal/thermochemical storage + existing district-heating context.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OrГі et al. (2019): air-cooled DC РїРѕРєР°Р·С‹РІР°РµС‚, РїРѕС‡РµРјСѓ РЅР°Р»РёС‡РёРµ С‚РµРїР»Р° РµС‰С‘ РЅРµ РіР°СЂР°РЅС‚РёСЂСѓРµС‚ С…РѕСЂРѕС€СѓСЋ СЌРєРѕРЅРѕРјРёРєСѓ.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3. РњРѕРґСѓР»СЊРЅР°СЏ Р°СЂС…РёС‚РµРєС‚СѓСЂР°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IT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04872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DC heat</a:t>
            </a:r>
            <a:br/>
            <a:r>
              <a:t>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9392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Heat pump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District</a:t>
            </a:r>
            <a:br/>
            <a:r>
              <a:t>heating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331720"/>
            <a:ext cx="13258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2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2542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Gas</a:t>
            </a:r>
            <a:br/>
            <a:r>
              <a:t>backup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65960" y="2578608"/>
            <a:ext cx="365759" cy="384048"/>
          </a:xfrm>
          <a:prstGeom prst="rightArrow">
            <a:avLst/>
          </a:prstGeom>
          <a:solidFill>
            <a:srgbClr val="22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657600" y="2578608"/>
            <a:ext cx="548639" cy="384048"/>
          </a:xfrm>
          <a:prstGeom prst="rightArrow">
            <a:avLst/>
          </a:prstGeom>
          <a:solidFill>
            <a:srgbClr val="22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532120" y="2578608"/>
            <a:ext cx="457200" cy="384048"/>
          </a:xfrm>
          <a:prstGeom prst="rightArrow">
            <a:avLst/>
          </a:prstGeom>
          <a:solidFill>
            <a:srgbClr val="22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315200" y="2578608"/>
            <a:ext cx="411479" cy="384048"/>
          </a:xfrm>
          <a:prstGeom prst="rightArrow">
            <a:avLst/>
          </a:prstGeom>
          <a:solidFill>
            <a:srgbClr val="22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6446520" y="3429000"/>
            <a:ext cx="411480" cy="640080"/>
          </a:xfrm>
          <a:prstGeom prst="downArrow">
            <a:avLst/>
          </a:prstGeom>
          <a:solidFill>
            <a:srgbClr val="268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0" y="4206240"/>
            <a:ext cx="1828800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268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44398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805F"/>
                </a:solidFill>
              </a:defRPr>
            </a:pPr>
            <a:r>
              <a:t>Thermal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E293B"/>
                </a:solidFill>
              </a:defRPr>
            </a:pPr>
            <a:r>
              <a:t>РљР°Р¶РґС‹Р№ Р±Р»РѕРє РёРјРµРµС‚ Р·Р°РјРµРЅСЏРµРјС‹Р№ РёРЅС‚РµСЂС„РµР№СЃ: real telemetry, manufacturer COP map, PCM/TCM storage, MPC, hydraulic network.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4. РЇРґСЂРѕ РјР°С‚РµРјР°С‚РёС‡РµСЃРєРѕР№ РјРѕРґРµР»Рё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Р”РѕСЃС‚СѓРїРЅРѕРµ С‚РµРїР»Рѕ:  Qsrc(t) = О·rec В· PIT(t)</a:t>
            </a:r>
          </a:p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COP:  COP в‰€ О·C В· Th /(Th в€’ Tc)</a:t>
            </a:r>
          </a:p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РўРµРїР»Рѕ HP:  QHP = Qsrc В· COP/(COP в€’ 1)</a:t>
            </a:r>
          </a:p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РЎРїСЂРѕСЃ:  QDH = [QDHW + Qspace В· f(Tout)] / О·network</a:t>
            </a:r>
          </a:p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Storage:  Ek+1 = Ek(1в€’О»О”t) + О·cQcО”t в€’ QdО”t/О·d</a:t>
            </a:r>
          </a:p>
          <a:p>
            <a:pPr>
              <a:spcAft>
                <a:spcPts val="1100"/>
              </a:spcAft>
              <a:defRPr sz="2000">
                <a:solidFill>
                  <a:srgbClr val="1E293B"/>
                </a:solidFill>
              </a:defRPr>
            </a:pPr>
            <a:r>
              <a:t>Р‘Р°Р»Р°РЅСЃ:  QDH = QHP,direct + Qstorage,dis + Qgas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5. Р­РєСЃРїРµСЂРёРјРµРЅС‚: 4 РѕСЃРЅРѕРІРЅС‹С… СЃС†РµРЅР°СЂРёСЏ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РћРґРёРЅР°РєРѕРІС‹Рµ РїРѕРіРѕРґР°, IT-load, С‚РµРїР»РѕСЃРµС‚СЊ Рё С†РµРЅС‹; РјРµРЅСЏСЋС‚СЃСЏ cooling/source Рё storage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82880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РЎС†РµРЅР°СЂРёР№</a:t>
                      </a:r>
                    </a:p>
                  </a:txBody>
                  <a:tcPr marL="73152" marR="73152"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 source</a:t>
                      </a:r>
                    </a:p>
                  </a:txBody>
                  <a:tcPr marL="73152" marR="73152"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 marL="73152" marR="73152"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marL="73152" marR="73152">
                    <a:solidFill>
                      <a:srgbClr val="1225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Air25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25 В°C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 MWh</a:t>
                      </a:r>
                    </a:p>
                  </a:txBody>
                  <a:tcPr marL="73152" marR="73152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Liquid35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35 В°C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 MWh</a:t>
                      </a:r>
                    </a:p>
                  </a:txBody>
                  <a:tcPr marL="73152" marR="73152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Warm45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45 В°C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 MWh</a:t>
                      </a:r>
                    </a:p>
                  </a:txBody>
                  <a:tcPr marL="73152" marR="73152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Warm45 + storage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45 В°C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marL="73152" marR="73152"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 marL="73152" marR="7315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9834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1E293B"/>
                </a:solidFill>
              </a:defRPr>
            </a:pPr>
            <a:r>
              <a:t>Р¦РµРЅС‹ Рё emission factors Р·РґРµСЃСЊ вЂ” СЃС†РµРЅР°СЂРЅС‹Рµ РїР°СЂР°РјРµС‚СЂС‹, РЅРµ С‚РµРєСѓС‰Р°СЏ РєРѕС‚РёСЂРѕРІРєР° РЎР»РѕРІР°РєРёРё.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6. Р РµР·СѓР»СЊС‚Р°С‚ reference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Warm 45 В°C + 100 MWh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82.5%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РџРѕРєСЂС‹С‚РёРµ СЃРїСЂРѕСЃР°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0876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19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6.86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РЎСЂРµРґРЅРёР№ COP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0876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645919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10.4 GWh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Residual gas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0876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45919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71.7%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COв‚‚ saving*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*РїРѕ scenario 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154680"/>
            <a:ext cx="30175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3291840"/>
            <a:ext cx="2651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49.0 GWh/a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Reused heat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3154680"/>
            <a:ext cx="30175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291840"/>
            <a:ext cx="2651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7.2 GWh/a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HP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154680"/>
            <a:ext cx="30175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291840"/>
            <a:ext cx="2651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69A0"/>
                </a:solidFill>
              </a:defRPr>
            </a:pPr>
            <a:r>
              <a:t>в‚¬2.01 M/a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OPEX saving*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*scenario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Р“Р»Р°РІРЅС‹Р№ СЃРјС‹СЃР» СЂРµР·СѓР»СЊС‚Р°С‚Р° РЅРµ РІ РєРѕРЅРєСЂРµС‚РЅРѕРј РµРІСЂРѕ-С‡РёСЃР»Рµ, Р° РІ РІРѕСЃРїСЂРѕРёР·РІРѕРґРёРјРѕРј СЌРЅРµСЂРіРµС‚РёС‡РµСЃРєРѕРј Р±Р°Р»Р°РЅСЃРµ Рё С‡СѓРІСЃС‚РІРёС‚РµР»СЊРЅРѕСЃС‚Рё Рє РїР°СЂР°РјРµС‚СЂР°Рј.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7. РЎС†РµРЅР°СЂРёРё: С‚РµС…РЅРёС‡РµСЃРєРёР№ РєРѕРјРїСЂРѕРјРёСЃСЃ</a:t>
            </a:r>
          </a:p>
        </p:txBody>
      </p:sp>
      <p:pic>
        <p:nvPicPr>
          <p:cNvPr id="3" name="Picture 2" descr="01_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51315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8. РўРµРјРїРµСЂР°С‚СѓСЂРЅС‹Р№ РїРѕРґСЉС‘Рј РѕРїСЂРµРґРµР»СЏРµС‚ COP</a:t>
            </a:r>
          </a:p>
        </p:txBody>
      </p:sp>
      <p:pic>
        <p:nvPicPr>
          <p:cNvPr id="3" name="Picture 2" descr="06_cop_temperature_lif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858000" cy="4867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6459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Source T в†‘ в†’ temperature lift в†“ в†’ COP в†‘.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DH supply T в†“ в†’ COP в†‘.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</a:defRPr>
            </a:pPr>
            <a:r>
              <a:t>Р­С‚Рѕ СЃРІСЏР·С‹РІР°РµС‚ РІС‹Р±РѕСЂ liquid cooling СЃ РїРѕРєРѕР»РµРЅРёРµРј/СЂРµР¶РёРјРѕРј district heating.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9. Р”РёРЅР°РјРёРєР°: РґРІРµ Р·РёРјРЅРёРµ РЅРµРґРµР»Рё</a:t>
            </a:r>
          </a:p>
        </p:txBody>
      </p:sp>
      <p:pic>
        <p:nvPicPr>
          <p:cNvPr id="3" name="Picture 2" descr="02_winter_op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280160"/>
            <a:ext cx="8869680" cy="52871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10. Storage: РїРѕР»РµР·РµРЅ, РЅРѕ РёРјРµРµС‚ diminishing returns</a:t>
            </a:r>
          </a:p>
        </p:txBody>
      </p:sp>
      <p:pic>
        <p:nvPicPr>
          <p:cNvPr id="3" name="Picture 2" descr="07_storag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949440" cy="43096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09560" y="16002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E293B"/>
                </a:solidFill>
              </a:defRPr>
            </a:pPr>
            <a:r>
              <a:t>РќР°РєРѕРїРёС‚РµР»СЊ РїРµСЂРµРЅРѕСЃРёС‚ СЌРЅРµСЂРіРёСЋ РІРѕ РІСЂРµРјРµРЅРё, РЅРѕ РЅРµ РјРµРЅСЏРµС‚ СЃРµР·РѕРЅРЅСѓСЋ С„РёР·РёРєСѓ СЃРїСЂРѕСЃР°.</a:t>
            </a:r>
          </a:p>
          <a:p>
            <a:pPr>
              <a:spcAft>
                <a:spcPts val="1100"/>
              </a:spcAft>
              <a:defRPr sz="1600">
                <a:solidFill>
                  <a:srgbClr val="1E293B"/>
                </a:solidFill>
              </a:defRPr>
            </a:pPr>
            <a:r>
              <a:t>РџРѕСЃР»Рµ РѕРїСЂРµРґРµР»С‘РЅРЅРѕР№ С‘РјРєРѕСЃС‚Рё РґРѕРїРѕР»РЅРёС‚РµР»СЊРЅС‹Р№ MWh storage РґР°С‘С‚ РІСЃС‘ РјРµРЅСЊС€РёР№ СЌС„С„РµРєС‚.</a:t>
            </a:r>
          </a:p>
          <a:p>
            <a:pPr>
              <a:spcAft>
                <a:spcPts val="1100"/>
              </a:spcAft>
              <a:defRPr sz="1600">
                <a:solidFill>
                  <a:srgbClr val="1E293B"/>
                </a:solidFill>
              </a:defRPr>
            </a:pPr>
            <a:r>
              <a:t>РЎР»РµРґСѓСЋС‰РёР№ СЌС‚Р°Рї: daily vs seasonal storage Рё РѕРїС‚РёРјРёР·Р°С†РёСЏ СЂР°Р·РјРµСЂР°.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11. РћРіСЂР°РЅРёС‡РµРЅРёСЏ v0.1 Рё РїСѓС‚СЊ Рє РїРѕР»РЅРѕС†РµРЅРЅРѕР№ РјРѕРґРµР»Рё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</a:defRPr>
            </a:pPr>
            <a:r>
              <a:t>v0.1: lumped energy balance, synthetic weather/load, simplified COP, generic storage.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</a:defRPr>
            </a:pPr>
            <a:r>
              <a:t>v0.2: СЂРµР°Р»СЊРЅС‹Рµ hourly weather/load + heat-exchanger UA/LMTD + manufacturer HP map.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</a:defRPr>
            </a:pPr>
            <a:r>
              <a:t>v0.3: supply/return curve, hydraulic losses, stratified/PCM/thermochemical storage, exergy.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</a:defRPr>
            </a:pPr>
            <a:r>
              <a:t>v0.4: CAPEX, NPV, LCOH, uncertainty and Monte-Carlo / Sobol sensitivity.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</a:defRPr>
            </a:pPr>
            <a:r>
              <a:t>v1.0: calibrated Bratislava/selected city case + Simscape/MPC + telemetry/digital-twin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53A"/>
                </a:solidFill>
              </a:defRPr>
            </a:pPr>
            <a:r>
              <a:t>12. РљР»СЋС‡РµРІС‹Рµ РёСЃС‚РѕС‡РЅРёРєРё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Wahlroos, M. et al. (2017). Energy 140, 1228вЂ“1238. DOI: 10.1016/j.energy.2017.08.078.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JГјrgens, B. et al. (2024). Int. J. Sustainable Energy Planning and Management. DOI: 10.54337/ijsepm.8149.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OrГі, E. et al. (2019). Sustainable Cities and Society 45, 522вЂ“542. DOI: 10.1016/j.scs.2018.12.012.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Verzino, A. et al. (2026). Energies 19(3), 800. DOI: 10.3390/en19030800.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Yuan, X. et al. (2023). Renewable and Sustainable Energy Reviews 188, 113777.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</a:defRPr>
            </a:pPr>
            <a:r>
              <a:t>EU Directive 2023/1791 on energy efficiency.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836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