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9375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65" kern="0" dirty="0">
                <a:solidFill>
                  <a:srgbClr val="9CC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WASTE HEAT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16152"/>
            <a:ext cx="10012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that would</a:t>
            </a:r>
            <a:endParaRPr lang="en-US" sz="4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otherwise be lost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94944" y="36576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BDF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 data centre could warm a public pool and a district-heating network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5230368"/>
            <a:ext cx="10799064" cy="0"/>
          </a:xfrm>
          <a:prstGeom prst="line">
            <a:avLst/>
          </a:prstGeom>
          <a:noFill/>
          <a:ln w="12700">
            <a:solidFill>
              <a:srgbClr val="55707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94944" y="54406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D9E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research • MATLAB / Simulink • 2025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72600" y="5468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AFBF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OCT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0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87384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162288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54312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729216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21240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96144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88168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863072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55096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GLOSSARY · 1/2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terms that make the rest readable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Servers produce heat; we study how it can be used safely.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4944" y="2468880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633472"/>
            <a:ext cx="41148" cy="685800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8775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696" y="2944368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facility with servers, networking, power and cooling.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3912" y="2468880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633472"/>
            <a:ext cx="41148" cy="685800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58775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load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5664" y="2944368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electrical demand; this study assumes a 10 MW peak.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" y="3648456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3813048"/>
            <a:ext cx="41148" cy="685800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7673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 heat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696" y="4123944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that must be removed from operating equipment.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53912" y="3648456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813048"/>
            <a:ext cx="41148" cy="685800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37673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Coolant loop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55664" y="4123944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Pipes, pumps and fluid used to transport heat.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" y="4828032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4992624"/>
            <a:ext cx="41148" cy="685800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" y="494690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exchanger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6696" y="5303520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Transfers heat between hydraulically isolated fluid streams.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53912" y="4828032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992624"/>
            <a:ext cx="41148" cy="685800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494690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 heating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5664" y="5303520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hot-water network distributing heat to buildings.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GLOSSARY · 2/2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delivers heat and handles failures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terms describe efficiency; others describe IT safety.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4944" y="2432304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596896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42032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recovery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696" y="2898648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Reusing heat that would otherwise be rejected.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153912" y="2432304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596896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542032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pump (HP)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5664" y="2898648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electricity to raise heat to a usable temperature.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94944" y="3566160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3730752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675888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Thermal store (TES)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696" y="4032504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heat to smooth supply and demand over time.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153912" y="3566160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730752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3675888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boiler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55664" y="4032504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heat when recovery and storage cannot cover demand.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94944" y="4700016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4864608"/>
            <a:ext cx="41148" cy="649224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" y="4809744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N+1 redundancy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6696" y="5166360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one standby unit to the number required in normal operation.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6153912" y="4700016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864608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4809744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SCADA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5664" y="5166360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Supervisory monitoring and control: values, alarms and trends.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713232" y="5934456"/>
            <a:ext cx="10826496" cy="429768"/>
          </a:xfrm>
          <a:prstGeom prst="roundRect">
            <a:avLst>
              <a:gd name="adj" fmla="val 31915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6062472"/>
            <a:ext cx="10415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distinction: 1 MW is power; 1 MWh is the energy delivered at 1 MW for one hour.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PASSPORT · 1/2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quantities used in diagrams and plots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 denotes power, °C denotes temperature. MWh instead measures energy.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450592"/>
            <a:ext cx="10808208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2459736"/>
            <a:ext cx="10789920" cy="466344"/>
          </a:xfrm>
          <a:prstGeom prst="rect">
            <a:avLst>
              <a:gd name="adj" fmla="val 29412"/>
            </a:avLst>
          </a:prstGeom>
          <a:solidFill>
            <a:srgbClr val="CFE2DF"/>
          </a:solidFill>
          <a:ln w="12700">
            <a:solidFill>
              <a:srgbClr val="CFE2D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98648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87952" y="2560320"/>
            <a:ext cx="6931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 AND DATA ORIGIN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P_IT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98648" y="30358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87952" y="301752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electrical input; load profile is modeled.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31520" y="3451860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29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Q_avail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898648" y="352958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87952" y="3511296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heat available for recovery; modeled, not metered.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Q_pool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898648" y="40233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87952" y="4005072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pool heating, including any heat-pump contribution.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31520" y="4439412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5171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Q_DH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898648" y="451713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87952" y="4498848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heat-pump output delivered to district heating.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914400" y="50109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P_HP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2898648" y="5010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87952" y="4992624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 input power to the heat-pump compressor.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31520" y="5426964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504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T_pool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898648" y="5504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°C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87952" y="548640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Pool-water temperature; simulated, not measured.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713232" y="6035040"/>
            <a:ext cx="10808208" cy="356616"/>
          </a:xfrm>
          <a:prstGeom prst="roundRect">
            <a:avLst>
              <a:gd name="adj" fmla="val 38462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" y="6085332"/>
            <a:ext cx="10378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 heat pump: useful heat = extracted source heat + compressor electricity.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PASSPORT · 2/2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energy and efficiency indicators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absent ERF is deliberate: it cannot be reported as measured without meters.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450592"/>
            <a:ext cx="10808208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2459736"/>
            <a:ext cx="10789920" cy="466344"/>
          </a:xfrm>
          <a:prstGeom prst="rect">
            <a:avLst>
              <a:gd name="adj" fmla="val 29412"/>
            </a:avLst>
          </a:prstGeom>
          <a:solidFill>
            <a:srgbClr val="CFE2DF"/>
          </a:solidFill>
          <a:ln w="12700">
            <a:solidFill>
              <a:srgbClr val="CFE2D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98648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87952" y="2560320"/>
            <a:ext cx="6931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 AND DATA ORIGIN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98648" y="30358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87952" y="301752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energy over a period; derived from the model load.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31520" y="3451860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29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E_DC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898648" y="352958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87952" y="3511296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facility energy, including cooling and other overhead; estimated.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E_src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898648" y="40233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87952" y="4005072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extracted server heat; this is not the regulated ERF.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31520" y="4439412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5171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898648" y="451713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87952" y="4498848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heat output per unit of compressor electricity.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914400" y="50109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2898648" y="5010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87952" y="4992624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E_DC / E_IT; 1.36 is an assumption, not a site measurement.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31520" y="5426964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504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ERF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898648" y="5504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87952" y="548640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 reuse factor at the DC boundary; site metering is missing.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713232" y="6035040"/>
            <a:ext cx="10808208" cy="356616"/>
          </a:xfrm>
          <a:prstGeom prst="roundRect">
            <a:avLst>
              <a:gd name="adj" fmla="val 38462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" y="6085332"/>
            <a:ext cx="10378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7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 ASSUMED (10 MW, PUE) · SIMULATED (Simulink) · UNMEASURED (ERF, real COP).</a:t>
            </a:r>
            <a:endParaRPr lang="en-US" sz="10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Servers do more than compute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Almost all electricity used by servers eventually becomes heat.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3675888" cy="3447288"/>
          </a:xfrm>
          <a:prstGeom prst="roundRect">
            <a:avLst>
              <a:gd name="adj" fmla="val 3979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81635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MW</a:t>
            </a:r>
            <a:endParaRPr lang="en-US" sz="5100" dirty="0"/>
          </a:p>
        </p:txBody>
      </p:sp>
      <p:sp>
        <p:nvSpPr>
          <p:cNvPr id="13" name="Text 11"/>
          <p:cNvSpPr/>
          <p:nvPr/>
        </p:nvSpPr>
        <p:spPr>
          <a:xfrm>
            <a:off x="941832" y="3849624"/>
            <a:ext cx="29809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3D5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assumed maximum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3D5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load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681728" y="2432304"/>
            <a:ext cx="6720840" cy="1408176"/>
          </a:xfrm>
          <a:prstGeom prst="roundRect">
            <a:avLst>
              <a:gd name="adj" fmla="val 974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2651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Servers must be cooled 24/7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56048" y="3246120"/>
            <a:ext cx="6035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when the pool and the city need no heat.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81728" y="4041648"/>
            <a:ext cx="6720840" cy="1801368"/>
          </a:xfrm>
          <a:prstGeom prst="roundRect">
            <a:avLst>
              <a:gd name="adj" fmla="val 76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4270248"/>
            <a:ext cx="6126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usual path — reject the heat outdoors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974336" y="4882896"/>
            <a:ext cx="5934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question: how much can be reused without compromising IT safety?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idea: give the heat a second destination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instead of IT cooling, but alongside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2990088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9718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33272" y="35021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2416" y="4032504"/>
            <a:ext cx="2514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Warms technical coolant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03904" y="3657600"/>
            <a:ext cx="356616" cy="0"/>
          </a:xfrm>
          <a:prstGeom prst="line">
            <a:avLst/>
          </a:prstGeom>
          <a:noFill/>
          <a:ln w="3429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15384" y="2743200"/>
            <a:ext cx="2990088" cy="1965960"/>
          </a:xfrm>
          <a:prstGeom prst="roundRect">
            <a:avLst>
              <a:gd name="adj" fmla="val 6977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29718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71416" y="35021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recovery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80560" y="4032504"/>
            <a:ext cx="2514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Transfers heat across isolated loops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3657600"/>
            <a:ext cx="356616" cy="0"/>
          </a:xfrm>
          <a:prstGeom prst="line">
            <a:avLst/>
          </a:prstGeom>
          <a:noFill/>
          <a:ln w="3429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53528" y="2743200"/>
            <a:ext cx="2990088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9718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909560" y="35021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heating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18704" y="4032504"/>
            <a:ext cx="2514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+ district network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" y="5120640"/>
            <a:ext cx="10424160" cy="603504"/>
          </a:xfrm>
          <a:prstGeom prst="roundRect">
            <a:avLst>
              <a:gd name="adj" fmla="val 22727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248656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cooling remains independent of heat sales.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at a glance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 available server heat first; dispatch it to where it is needed.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642616"/>
            <a:ext cx="2779776" cy="1143000"/>
          </a:xfrm>
          <a:prstGeom prst="roundRect">
            <a:avLst>
              <a:gd name="adj" fmla="val 12000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89864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Servers / cooling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13632" y="2642616"/>
            <a:ext cx="2523744" cy="1143000"/>
          </a:xfrm>
          <a:prstGeom prst="roundRect">
            <a:avLst>
              <a:gd name="adj" fmla="val 1200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292608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recovery loop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29000" y="3218688"/>
            <a:ext cx="457200" cy="0"/>
          </a:xfrm>
          <a:prstGeom prst="line">
            <a:avLst/>
          </a:prstGeom>
          <a:noFill/>
          <a:ln w="3302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58584" y="2359152"/>
            <a:ext cx="4270248" cy="1033272"/>
          </a:xfrm>
          <a:prstGeom prst="roundRect">
            <a:avLst>
              <a:gd name="adj" fmla="val 1327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14616" y="2651760"/>
            <a:ext cx="3694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pump → district heating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58584" y="3730752"/>
            <a:ext cx="42702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4616" y="400507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exchanger → pool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37376" y="3209544"/>
            <a:ext cx="484632" cy="-338328"/>
          </a:xfrm>
          <a:prstGeom prst="line">
            <a:avLst/>
          </a:prstGeom>
          <a:noFill/>
          <a:ln w="33020">
            <a:solidFill>
              <a:srgbClr val="267F7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3209544"/>
            <a:ext cx="475488" cy="932688"/>
          </a:xfrm>
          <a:prstGeom prst="line">
            <a:avLst/>
          </a:prstGeom>
          <a:noFill/>
          <a:ln w="33020">
            <a:solidFill>
              <a:srgbClr val="267F7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4663440"/>
            <a:ext cx="5797296" cy="896112"/>
          </a:xfrm>
          <a:prstGeom prst="roundRect">
            <a:avLst>
              <a:gd name="adj" fmla="val 15306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928616"/>
            <a:ext cx="5422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IT backup cooling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29968" y="3794760"/>
            <a:ext cx="0" cy="868680"/>
          </a:xfrm>
          <a:prstGeom prst="line">
            <a:avLst/>
          </a:prstGeom>
          <a:noFill/>
          <a:ln w="25400">
            <a:solidFill>
              <a:srgbClr val="C77049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931152" y="5001768"/>
            <a:ext cx="4343400" cy="713232"/>
          </a:xfrm>
          <a:prstGeom prst="roundRect">
            <a:avLst>
              <a:gd name="adj" fmla="val 19231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5129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cooling must continue even if heat reuse or the network stops.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BALANCE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simulated year shows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heat splits into recovered energy and energy rejected outdoors.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25877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8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71.8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95528" y="3438144"/>
            <a:ext cx="3849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of IT heat per year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0016" y="2798064"/>
            <a:ext cx="6574536" cy="576072"/>
          </a:xfrm>
          <a:prstGeom prst="roundRect">
            <a:avLst>
              <a:gd name="adj" fmla="val 23810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2798064"/>
            <a:ext cx="3503113" cy="576072"/>
          </a:xfrm>
          <a:prstGeom prst="rect">
            <a:avLst>
              <a:gd name="adj" fmla="val 2381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03129" y="2798064"/>
            <a:ext cx="3071423" cy="576072"/>
          </a:xfrm>
          <a:prstGeom prst="rect">
            <a:avLst>
              <a:gd name="adj" fmla="val 2381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3675888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727448" y="4425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recovered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2752" y="3675888"/>
            <a:ext cx="25054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02752" y="4425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rejected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321808"/>
            <a:ext cx="10552176" cy="512064"/>
          </a:xfrm>
          <a:prstGeom prst="roundRect">
            <a:avLst>
              <a:gd name="adj" fmla="val 26786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5449824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simulated energy balance, not a reportable measured ERF.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INPUTS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numbers come from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Strength: reproducible calculations. Limitation: no operating-site telemetry.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0664" y="2414016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258775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56032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Weather: external dataset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0704" y="2916936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POWER • Bratislava • 8,760 hours in 2025. Gridded reanalysis.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07608" y="2414016"/>
            <a:ext cx="508406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58775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560320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servers: assumed load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7648" y="2916936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and recoverable fraction are model assumptions, not meter readings.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40664" y="3840480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" y="4014216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98678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Physics: MATLAB / Simulink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0704" y="434340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source, pool, heat pumps, storage and gas backup in 5-minute steps.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07608" y="3840480"/>
            <a:ext cx="508406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4014216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3986784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Verification: independent QA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27648" y="4343400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checks on 420,480 samples across four annual scenarios.</a:t>
            </a:r>
            <a:endParaRPr lang="en-US" sz="12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AND DEMAND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changes sharply with the season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 heat demand is calculated from Bratislava hourly outdoor temperature in 2025.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8680" y="5458968"/>
            <a:ext cx="10561320" cy="0"/>
          </a:xfrm>
          <a:prstGeom prst="line">
            <a:avLst/>
          </a:prstGeom>
          <a:noFill/>
          <a:ln w="1270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33856" y="3218688"/>
            <a:ext cx="521208" cy="2240280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3345292"/>
            <a:ext cx="521208" cy="2113676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98064" y="4002511"/>
            <a:ext cx="521208" cy="1456457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52344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30168" y="4544323"/>
            <a:ext cx="521208" cy="914645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84448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62272" y="4719765"/>
            <a:ext cx="521208" cy="739203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94376" y="5052424"/>
            <a:ext cx="521208" cy="406544"/>
          </a:xfrm>
          <a:prstGeom prst="rect">
            <a:avLst>
              <a:gd name="adj" fmla="val 33738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5054125"/>
            <a:ext cx="521208" cy="404843"/>
          </a:xfrm>
          <a:prstGeom prst="rect">
            <a:avLst>
              <a:gd name="adj" fmla="val 3388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58584" y="5039462"/>
            <a:ext cx="521208" cy="419506"/>
          </a:xfrm>
          <a:prstGeom prst="rect">
            <a:avLst>
              <a:gd name="adj" fmla="val 3269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90688" y="4949089"/>
            <a:ext cx="521208" cy="509879"/>
          </a:xfrm>
          <a:prstGeom prst="rect">
            <a:avLst>
              <a:gd name="adj" fmla="val 2690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4968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22792" y="4391180"/>
            <a:ext cx="521208" cy="1067788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77072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54896" y="3731977"/>
            <a:ext cx="521208" cy="1726991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9176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287000" y="3297617"/>
            <a:ext cx="521208" cy="2161351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0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" y="2368296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district-heat demand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" y="30083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53675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" y="5870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thousand MWh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 HEATING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heating demand is supplied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heat pump supplies most of the heat; backup gas covers shortages and peaks.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6384" y="2432304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56.8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86384" y="2944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district demand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8848" y="2432304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498848" y="2944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useful HP heat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56448" y="2432304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156448" y="29443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GWh backup gas heat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215384"/>
            <a:ext cx="8573723" cy="676656"/>
          </a:xfrm>
          <a:prstGeom prst="rect">
            <a:avLst>
              <a:gd name="adj" fmla="val 2027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88123" y="4215384"/>
            <a:ext cx="1649269" cy="676656"/>
          </a:xfrm>
          <a:prstGeom prst="rect">
            <a:avLst>
              <a:gd name="adj" fmla="val 2027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184648"/>
            <a:ext cx="137160" cy="137160"/>
          </a:xfrm>
          <a:prstGeom prst="rect">
            <a:avLst>
              <a:gd name="adj" fmla="val 10000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515721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pump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5184648"/>
            <a:ext cx="137160" cy="137160"/>
          </a:xfrm>
          <a:prstGeom prst="rect">
            <a:avLst>
              <a:gd name="adj" fmla="val 1000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515721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gas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733288"/>
            <a:ext cx="10195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storage tank shifts heat across time, so summed production flows include charge/discharge effects.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PRACTICAL EXAMPLE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swimming pool makes the benefit tangible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Assumed 25 × 12.5 × 1.6 m dimensions are a study scenario, not a universal pool standard.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487168"/>
            <a:ext cx="4187952" cy="3127248"/>
          </a:xfrm>
          <a:prstGeom prst="roundRect">
            <a:avLst>
              <a:gd name="adj" fmla="val 4386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7008" y="2953512"/>
            <a:ext cx="3273552" cy="1380744"/>
          </a:xfrm>
          <a:prstGeom prst="roundRect">
            <a:avLst>
              <a:gd name="adj" fmla="val 9934"/>
            </a:avLst>
          </a:prstGeom>
          <a:solidFill>
            <a:srgbClr val="80C6C7"/>
          </a:solidFill>
          <a:ln w="19050">
            <a:solidFill>
              <a:srgbClr val="267F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08176" y="3246120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408176" y="3502152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408176" y="3758184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408176" y="4014216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161288" y="46268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× 12.5 × 1.6 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04104" y="25054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m³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404104" y="30175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volume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39328" y="2505456"/>
            <a:ext cx="2788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kW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339328" y="301752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heating capacity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22392" y="41056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422392" y="46177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 heat per year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41056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27.62 °C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321040" y="46177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modeled peak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PHYSICS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pool heat is gained and lost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includes water heat capacity, evaporation, convection, radiation and makeup water.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423160"/>
            <a:ext cx="10689336" cy="2880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715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change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32735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ΔT = (Qin − Qloss) · Δt / (ρ · V · cp)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1051560" y="4050792"/>
            <a:ext cx="10085832" cy="0"/>
          </a:xfrm>
          <a:prstGeom prst="line">
            <a:avLst/>
          </a:prstGeom>
          <a:noFill/>
          <a:ln w="1270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7280" y="43068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Qin: heat added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62856" y="43068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Qloss: heat lost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7032" y="43068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V: water volume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" y="5550408"/>
            <a:ext cx="10570464" cy="621792"/>
          </a:xfrm>
          <a:prstGeom prst="roundRect">
            <a:avLst>
              <a:gd name="adj" fmla="val 22059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5678424"/>
            <a:ext cx="1015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pool cover reduces evaporation, and therefore heat demand.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OPERATING MODES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35°C: direct. 25°C: via a heat pump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available coolant temperature determines which equipment is practical.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239512" cy="3035808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761488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°C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3364992" y="2889504"/>
            <a:ext cx="2121408" cy="310896"/>
          </a:xfrm>
          <a:prstGeom prst="roundRect">
            <a:avLst>
              <a:gd name="adj" fmla="val 44118"/>
            </a:avLst>
          </a:prstGeom>
          <a:solidFill>
            <a:srgbClr val="CFE2DF"/>
          </a:solidFill>
          <a:ln w="12700">
            <a:solidFill>
              <a:srgbClr val="CFE2D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916936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transfer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88720" y="3776472"/>
            <a:ext cx="3922776" cy="0"/>
          </a:xfrm>
          <a:prstGeom prst="line">
            <a:avLst/>
          </a:prstGeom>
          <a:noFill/>
          <a:ln w="27940">
            <a:solidFill>
              <a:srgbClr val="267F7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69848" y="397764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9624" y="397764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470916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dedicated pool compressor if the exchanger achieves the required heat transfer.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08776" y="2487168"/>
            <a:ext cx="5248656" cy="3035808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761488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°C</a:t>
            </a:r>
            <a:endParaRPr lang="en-US" sz="3100" dirty="0"/>
          </a:p>
        </p:txBody>
      </p:sp>
      <p:sp>
        <p:nvSpPr>
          <p:cNvPr id="21" name="Shape 19"/>
          <p:cNvSpPr/>
          <p:nvPr/>
        </p:nvSpPr>
        <p:spPr>
          <a:xfrm>
            <a:off x="8705088" y="2889504"/>
            <a:ext cx="2286000" cy="310896"/>
          </a:xfrm>
          <a:prstGeom prst="roundRect">
            <a:avLst>
              <a:gd name="adj" fmla="val 44118"/>
            </a:avLst>
          </a:prstGeom>
          <a:solidFill>
            <a:srgbClr val="F1DDCE"/>
          </a:solidFill>
          <a:ln w="12700">
            <a:solidFill>
              <a:srgbClr val="F1DDC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14816" y="2916936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pump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3776472"/>
            <a:ext cx="4005072" cy="0"/>
          </a:xfrm>
          <a:prstGeom prst="line">
            <a:avLst/>
          </a:prstGeom>
          <a:noFill/>
          <a:ln w="2794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83096" y="39776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68512" y="3977640"/>
            <a:ext cx="2459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Compressor → pool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709160"/>
            <a:ext cx="4507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Compressor electricity is needed; COP=4 is assumed, not manufacturer-certified.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 ACCOUNTING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heat pump does not create energy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25°C the recovered source supplies heat; electricity drives the compressor.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88136" y="2834640"/>
            <a:ext cx="6809858" cy="1024128"/>
          </a:xfrm>
          <a:prstGeom prst="rect">
            <a:avLst>
              <a:gd name="adj" fmla="val 1339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97994" y="2834640"/>
            <a:ext cx="2269953" cy="1024128"/>
          </a:xfrm>
          <a:prstGeom prst="rect">
            <a:avLst>
              <a:gd name="adj" fmla="val 1339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3063240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187.6 MWh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430768" y="3072384"/>
            <a:ext cx="1572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62.5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52144" y="4078224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Recovered server heat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62672" y="4078224"/>
            <a:ext cx="27340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Compressor electricity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493776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250.1 MWh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990088" y="55869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useful pool heating over one year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 HEAT PUMP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COP matters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 measures useful heat delivered per unit of compressor electricity.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5528" y="2596896"/>
            <a:ext cx="5001768" cy="2496312"/>
          </a:xfrm>
          <a:prstGeom prst="roundRect">
            <a:avLst>
              <a:gd name="adj" fmla="val 5495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2962656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 ≈ 4.90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33856" y="3904488"/>
            <a:ext cx="4416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CEE0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calculated from a synthetic Carnot approximation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596896"/>
            <a:ext cx="5358384" cy="2496312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935224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47.8 GWh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45936" y="361188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 useful heat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4096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2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9.74 GWh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4105656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compressor electricity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5349240"/>
            <a:ext cx="10515600" cy="603504"/>
          </a:xfrm>
          <a:prstGeom prst="roundRect">
            <a:avLst>
              <a:gd name="adj" fmla="val 22727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5477256"/>
            <a:ext cx="1010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OEM certification is required at the actual 25–35°C source and 70°C sink conditions.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equipment we would need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technical selection brief, not a purchase-ready bill of materials.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2487168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660904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33472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Pool: plate heat exchanger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990088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kW; ≈25 m² at 35/32 ↔ 27.5/29.5°C with assumed heat transfer coefficient.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35040" y="2487168"/>
            <a:ext cx="5056632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660904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63347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 network: modular HPs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990088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 or Oilon; module count requires OEM output/COP data for our temperatures.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105656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07822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Pumps and metering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43484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Preliminary 43.2 m³/h primary and 64.8 m³/h pool-side flow.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35040" y="3931920"/>
            <a:ext cx="5056632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4105656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078224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IT heat rejection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4434840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10 MW rejection even with no heat customers, with N+1 resilience.</a:t>
            </a:r>
            <a:endParaRPr lang="en-US" sz="12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CATALOGUE CHECK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1.57 MW rating is not a site guarantee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manufacturer rating refers to specific test temperatures, not every operating point.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6112" y="2542032"/>
            <a:ext cx="50932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1.57 MW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96112" y="3054096"/>
            <a:ext cx="5093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 61XWH-ZE17: published nominal point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3952" y="2542032"/>
            <a:ext cx="4736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+ 1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73952" y="3054096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nominal units for 9.42 MW + one spare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4270248"/>
            <a:ext cx="10552176" cy="1152144"/>
          </a:xfrm>
          <a:prstGeom prst="roundRect">
            <a:avLst>
              <a:gd name="adj" fmla="val 11905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535424"/>
            <a:ext cx="9939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test point: 20/15°C source → 70/75°C sink.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33272" y="5614416"/>
            <a:ext cx="10021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intended 35/30°C → 50/70°C operation, OEM selection is still required. 6+1 is not a purchase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CHOICE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biggest plant is not automatically best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peak hours, underused capacity and backup-gas substitution.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6112" y="2642616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76856" y="2596896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76856" y="2596896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2624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10,303 MWh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3401568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76856" y="3355848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76856" y="3355848"/>
            <a:ext cx="2996971" cy="429768"/>
          </a:xfrm>
          <a:prstGeom prst="roundRect">
            <a:avLst>
              <a:gd name="adj" fmla="val 31915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3383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2,564 MWh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4160520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276856" y="4114800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76856" y="4114800"/>
            <a:ext cx="79793" cy="429768"/>
          </a:xfrm>
          <a:prstGeom prst="roundRect">
            <a:avLst>
              <a:gd name="adj" fmla="val 171895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4142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2.74 MWh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919472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MW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76856" y="4873752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76856" y="4873752"/>
            <a:ext cx="0" cy="429768"/>
          </a:xfrm>
          <a:prstGeom prst="roundRect">
            <a:avLst>
              <a:gd name="adj" fmla="val Infinity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4901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MWh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5256" y="578815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annual backup-gas heat with constrained HP capacity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ECONOMICS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simpler route currently wins on cost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Against separate gas-boiler pool heating at Eurostat Slovakia 2025 benchmark prices.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86384" y="2523744"/>
            <a:ext cx="4983480" cy="2139696"/>
          </a:xfrm>
          <a:prstGeom prst="roundRect">
            <a:avLst>
              <a:gd name="adj" fmla="val 641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87121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5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€12,307</a:t>
            </a:r>
            <a:endParaRPr lang="en-US" sz="3500" dirty="0"/>
          </a:p>
        </p:txBody>
      </p:sp>
      <p:sp>
        <p:nvSpPr>
          <p:cNvPr id="13" name="Text 11"/>
          <p:cNvSpPr/>
          <p:nvPr/>
        </p:nvSpPr>
        <p:spPr>
          <a:xfrm>
            <a:off x="1060704" y="3749040"/>
            <a:ext cx="4379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energy OPEX advantage: direct HX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53328" y="2523744"/>
            <a:ext cx="5157216" cy="2139696"/>
          </a:xfrm>
          <a:prstGeom prst="roundRect">
            <a:avLst>
              <a:gd name="adj" fmla="val 6410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871216"/>
            <a:ext cx="46268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5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€4,280</a:t>
            </a:r>
            <a:endParaRPr lang="en-US" sz="3500" dirty="0"/>
          </a:p>
        </p:txBody>
      </p:sp>
      <p:sp>
        <p:nvSpPr>
          <p:cNvPr id="16" name="Text 14"/>
          <p:cNvSpPr/>
          <p:nvPr/>
        </p:nvSpPr>
        <p:spPr>
          <a:xfrm>
            <a:off x="6300216" y="3749040"/>
            <a:ext cx="4517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energy OPEX advantage: pool heat pump (COP=4 assumed)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157216"/>
            <a:ext cx="10378440" cy="649224"/>
          </a:xfrm>
          <a:prstGeom prst="roundRect">
            <a:avLst>
              <a:gd name="adj" fmla="val 21127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5285232"/>
            <a:ext cx="9966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Excludes installed CAPEX, maintenance, hall HVAC and actual contracted tariffs.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DECISION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Installed cost can change the conclusion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HX: 20-year NPV at 6% discount. These are budget scenarios, not supplier quotations.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07008" y="2633472"/>
            <a:ext cx="315468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5608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€45k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1732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NPV +€71k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718304" y="2633472"/>
            <a:ext cx="315468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€75k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28616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NPV +€34k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29600" y="2633472"/>
            <a:ext cx="315468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€110k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39912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NPV €-9k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25296" y="5294376"/>
            <a:ext cx="9838944" cy="685800"/>
          </a:xfrm>
          <a:prstGeom prst="roundRect">
            <a:avLst>
              <a:gd name="adj" fmla="val 2000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5422392"/>
            <a:ext cx="9427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the model assumptions, break-even installed CAPEX is around €103k.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AND SAFETY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Comfort and a strict temperature boundary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simulation deliberately stays below the published upper temperature limit.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0" y="3602736"/>
            <a:ext cx="9692640" cy="0"/>
          </a:xfrm>
          <a:prstGeom prst="line">
            <a:avLst/>
          </a:prstGeom>
          <a:noFill/>
          <a:ln w="7620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488936" y="3364992"/>
            <a:ext cx="0" cy="475488"/>
          </a:xfrm>
          <a:prstGeom prst="line">
            <a:avLst/>
          </a:prstGeom>
          <a:noFill/>
          <a:ln w="24130">
            <a:solidFill>
              <a:srgbClr val="267F7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167421" y="3172968"/>
            <a:ext cx="0" cy="713232"/>
          </a:xfrm>
          <a:prstGeom prst="line">
            <a:avLst/>
          </a:prstGeom>
          <a:noFill/>
          <a:ln w="25400">
            <a:solidFill>
              <a:srgbClr val="C77049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555126" y="3236976"/>
            <a:ext cx="0" cy="731520"/>
          </a:xfrm>
          <a:prstGeom prst="line">
            <a:avLst/>
          </a:prstGeom>
          <a:noFill/>
          <a:ln w="25400">
            <a:solidFill>
              <a:srgbClr val="122E39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942832" y="3136392"/>
            <a:ext cx="0" cy="786384"/>
          </a:xfrm>
          <a:prstGeom prst="line">
            <a:avLst/>
          </a:prstGeom>
          <a:noFill/>
          <a:ln w="38100">
            <a:solidFill>
              <a:srgbClr val="C77049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7150608" y="40325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29093" y="42611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27.60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16798" y="40325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27.80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04504" y="42611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4782312"/>
            <a:ext cx="4480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27.62 °C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225296" y="54681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maximum in Simulink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7731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sensor errors, valve overshoot and effective legal text still require testing.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nobody accepts the heat?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Servers cannot depend on pool schedules or district heating demand.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5528" y="2542032"/>
            <a:ext cx="5093208" cy="2743200"/>
          </a:xfrm>
          <a:prstGeom prst="roundRect">
            <a:avLst>
              <a:gd name="adj" fmla="val 5000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880360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MW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106424" y="3959352"/>
            <a:ext cx="43342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C8D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full-rated independent IT heat rejection required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9632" y="2551176"/>
            <a:ext cx="5065776" cy="1078992"/>
          </a:xfrm>
          <a:prstGeom prst="roundRect">
            <a:avLst>
              <a:gd name="adj" fmla="val 12712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85292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1,727 m³/h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91656" y="3374136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5 K water temperature difference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3886200"/>
            <a:ext cx="5065776" cy="1408176"/>
          </a:xfrm>
          <a:prstGeom prst="roundRect">
            <a:avLst>
              <a:gd name="adj" fmla="val 974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16966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N+1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48472" y="4169664"/>
            <a:ext cx="2587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survive failure of at least one unit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5568696"/>
            <a:ext cx="10351008" cy="548640"/>
          </a:xfrm>
          <a:prstGeom prst="roundRect">
            <a:avLst>
              <a:gd name="adj" fmla="val 25000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5696712"/>
            <a:ext cx="9939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Thermal storage is not coolant flow: pumps require UPS and redundancy.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SCENARIOS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useful model must reveal unsafe conditions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cooling model: six one-hour tests at 5-second intervals, with a 10 m³ buffer.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" y="2670048"/>
            <a:ext cx="219456" cy="219456"/>
          </a:xfrm>
          <a:prstGeom prst="ellipse">
            <a:avLst>
              <a:gd name="adj" fmla="val 6250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2578608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Spare starts in 30 sec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52360" y="2587752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limit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236976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" y="3438144"/>
            <a:ext cx="219456" cy="219456"/>
          </a:xfrm>
          <a:prstGeom prst="ellipse">
            <a:avLst>
              <a:gd name="adj" fmla="val 625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334670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Spare delayed 5 min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52360" y="3355848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Overheat detected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005072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" y="4206240"/>
            <a:ext cx="219456" cy="219456"/>
          </a:xfrm>
          <a:prstGeom prst="ellipse">
            <a:avLst>
              <a:gd name="adj" fmla="val 625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81328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derated in heat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52360" y="4123944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shortage flagged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4773168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" y="4974336"/>
            <a:ext cx="219456" cy="219456"/>
          </a:xfrm>
          <a:prstGeom prst="ellipse">
            <a:avLst>
              <a:gd name="adj" fmla="val 625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81328" y="488289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Coolant pump failure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52360" y="4892040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coolant flow — trip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" y="5870448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Unsafe cases are successful hazard detections, not successful safe operation.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AND STANDARDS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model ≠ certified facility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mapped standards but have not signed off compliance without full texts and tests.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49808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KPIs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547872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 checkpoints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345936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0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signals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023360"/>
            <a:ext cx="10488168" cy="1216152"/>
          </a:xfrm>
          <a:prstGeom prst="roundRect">
            <a:avLst>
              <a:gd name="adj" fmla="val 1127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3856" y="43342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36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3730752" y="4416552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passed software checks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18704" y="4343400"/>
            <a:ext cx="78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705088" y="4389120"/>
            <a:ext cx="21214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 blocked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" y="5559552"/>
            <a:ext cx="10469880" cy="585216"/>
          </a:xfrm>
          <a:prstGeom prst="roundRect">
            <a:avLst>
              <a:gd name="adj" fmla="val 23438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68756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PUE=1.36 is assumed. Reportable ERF and WUE require meters.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different people gain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Visitors notice a warm pool; operators need a safe, measurable heat system.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9808" y="2505456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67919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65176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visitor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9848" y="3008376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Comfortable water and potentially lower energy costs.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35040" y="2505456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67919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65176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operator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008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forecast, water-temperature control and backup operation.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49808" y="3950208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123944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096512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Data-centre operator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9848" y="4453128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 heat without depending on external customers for IT cooling.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35040" y="3950208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4123944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0965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 network / city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44531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additional heat source, with reduced modeled backup-gas reliance.</a:t>
            </a:r>
            <a:endParaRPr lang="en-US" sz="121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research to a buildable design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needs staged evidence, not a leap from simulations to purchasing.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68096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Measure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41832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loads, coolant temperatures/flows and facility energy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Select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39896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pumps and HX from confirmed operating-point curves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64224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Engineer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37960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Hydraulics, UPS, independent backup cooling and safeguards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62288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Validate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336024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 testing, applicable standards and acceptance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5413248"/>
            <a:ext cx="10588752" cy="630936"/>
          </a:xfrm>
          <a:prstGeom prst="roundRect">
            <a:avLst>
              <a:gd name="adj" fmla="val 21739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5541264"/>
            <a:ext cx="10177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Buying equipment before OEM ratings and safety testing would be premature.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30" kern="0" dirty="0">
                <a:solidFill>
                  <a:srgbClr val="9EC4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0759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study shows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" y="2578608"/>
            <a:ext cx="329184" cy="329184"/>
          </a:xfrm>
          <a:prstGeom prst="ellipse">
            <a:avLst>
              <a:gd name="adj" fmla="val 4166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53312" y="2487168"/>
            <a:ext cx="9811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E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heat can be allocated among multiple useful destinations.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6384" y="3474720"/>
            <a:ext cx="329184" cy="329184"/>
          </a:xfrm>
          <a:prstGeom prst="ellipse">
            <a:avLst>
              <a:gd name="adj" fmla="val 4166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3383280"/>
            <a:ext cx="9811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E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35°C source, direct pool heating appears simpler and cheaper than a separate HP.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6384" y="4370832"/>
            <a:ext cx="329184" cy="329184"/>
          </a:xfrm>
          <a:prstGeom prst="ellipse">
            <a:avLst>
              <a:gd name="adj" fmla="val 4166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4279392"/>
            <a:ext cx="9811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E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reuse must never become the only IT cooling route.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5879592"/>
            <a:ext cx="10570464" cy="0"/>
          </a:xfrm>
          <a:prstGeom prst="line">
            <a:avLst/>
          </a:prstGeom>
          <a:noFill/>
          <a:ln w="12700">
            <a:solidFill>
              <a:srgbClr val="4E657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822960" y="6044184"/>
            <a:ext cx="9509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CC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research conclusion, not an installation approval.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interpret every number in this deck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major numbers come from saved model results with explicit evidence limits.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 · research, not site measurements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2459736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63347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060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962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model, 8,760 hours, 300-second Simulink, independent balance QA.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62472" y="2459736"/>
            <a:ext cx="503834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263347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606040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2512" y="2962656"/>
            <a:ext cx="4535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MW IT, PUE=1.36, modeled COP, equipment budgets, 500 m³ pool.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31520" y="3922776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9651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0690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UNVERIFIED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4256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OEM duty/COP, site measurements, physical safety and licensed standards.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62472" y="3922776"/>
            <a:ext cx="503834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27064" y="409651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4069080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SOURCES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2512" y="4425696"/>
            <a:ext cx="4535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POWER • Eurostat SK • Carrier / Eurovent • EU 2024/1364 • STN EN 15288.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822960" y="5623560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files: MATLAB/Simulink, KPI CSV/JSON, 56 standards checkpoints, 36 use cases and QA.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Independent research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Data-centre heat: from servers to pool and district heating</dc:title>
  <dc:subject>Data-centre waste heat: 10 MW IT, district heating and swimming pool — model-based feasibility study</dc:subject>
  <dc:creator>Engineering Research</dc:creator>
  <cp:lastModifiedBy>Engineering Research</cp:lastModifiedBy>
  <cp:revision>1</cp:revision>
  <dcterms:created xsi:type="dcterms:W3CDTF">2026-10-23T16:26:27Z</dcterms:created>
  <dcterms:modified xsi:type="dcterms:W3CDTF">2026-10-23T16:26:27Z</dcterms:modified>
</cp:coreProperties>
</file>