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>
              <a:gd name="adj" fmla="val 93750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4846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65" kern="0" dirty="0">
                <a:solidFill>
                  <a:srgbClr val="9CC3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WASTE HEAT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16152"/>
            <a:ext cx="10012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Teplo, ktoré by</a:t>
            </a:r>
            <a:endParaRPr lang="en-US" sz="43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 inak stratilo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694944" y="36576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BDF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Ako môže dátové centrum vykurovať bazén a mestskú tepelnú sieť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85800" y="5230368"/>
            <a:ext cx="10799064" cy="0"/>
          </a:xfrm>
          <a:prstGeom prst="line">
            <a:avLst/>
          </a:prstGeom>
          <a:noFill/>
          <a:ln w="12700">
            <a:solidFill>
              <a:srgbClr val="557078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94944" y="54406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D9E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Inžinierska štúdia • MATLAB / Simulink • Modelový rok 2025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72600" y="5468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AFBF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OCT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595360" y="2523744"/>
            <a:ext cx="393192" cy="722376"/>
          </a:xfrm>
          <a:prstGeom prst="roundRect">
            <a:avLst>
              <a:gd name="adj" fmla="val 34884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87384" y="3227832"/>
            <a:ext cx="0" cy="192024"/>
          </a:xfrm>
          <a:prstGeom prst="line">
            <a:avLst/>
          </a:prstGeom>
          <a:noFill/>
          <a:ln w="16510">
            <a:solidFill>
              <a:srgbClr val="8CB0AC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162288" y="2523744"/>
            <a:ext cx="393192" cy="722376"/>
          </a:xfrm>
          <a:prstGeom prst="roundRect">
            <a:avLst>
              <a:gd name="adj" fmla="val 34884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54312" y="3227832"/>
            <a:ext cx="0" cy="192024"/>
          </a:xfrm>
          <a:prstGeom prst="line">
            <a:avLst/>
          </a:prstGeom>
          <a:noFill/>
          <a:ln w="16510">
            <a:solidFill>
              <a:srgbClr val="8CB0AC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729216" y="2523744"/>
            <a:ext cx="393192" cy="722376"/>
          </a:xfrm>
          <a:prstGeom prst="roundRect">
            <a:avLst>
              <a:gd name="adj" fmla="val 34884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21240" y="3227832"/>
            <a:ext cx="0" cy="192024"/>
          </a:xfrm>
          <a:prstGeom prst="line">
            <a:avLst/>
          </a:prstGeom>
          <a:noFill/>
          <a:ln w="16510">
            <a:solidFill>
              <a:srgbClr val="8CB0AC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96144" y="2523744"/>
            <a:ext cx="393192" cy="722376"/>
          </a:xfrm>
          <a:prstGeom prst="roundRect">
            <a:avLst>
              <a:gd name="adj" fmla="val 34884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88168" y="3227832"/>
            <a:ext cx="0" cy="192024"/>
          </a:xfrm>
          <a:prstGeom prst="line">
            <a:avLst/>
          </a:prstGeom>
          <a:noFill/>
          <a:ln w="16510">
            <a:solidFill>
              <a:srgbClr val="8CB0AC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0863072" y="2523744"/>
            <a:ext cx="393192" cy="722376"/>
          </a:xfrm>
          <a:prstGeom prst="roundRect">
            <a:avLst>
              <a:gd name="adj" fmla="val 34884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055096" y="3227832"/>
            <a:ext cx="0" cy="192024"/>
          </a:xfrm>
          <a:prstGeom prst="line">
            <a:avLst/>
          </a:prstGeom>
          <a:noFill/>
          <a:ln w="16510">
            <a:solidFill>
              <a:srgbClr val="8CB0AC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SLOVNÍK PROJEKTU · 1/2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Šesť pojmov, ktoré potrebujeme ďalej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Servery produkujú teplo; skúmame, ako ho bezpečne využiť.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2025 · výskum, nie meranie prevádzky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94944" y="2468880"/>
            <a:ext cx="5340096" cy="1042416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633472"/>
            <a:ext cx="41148" cy="685800"/>
          </a:xfrm>
          <a:prstGeom prst="rect">
            <a:avLst>
              <a:gd name="adj" fmla="val 333333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2587752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Dátové centrum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6696" y="2944368"/>
            <a:ext cx="48188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Priestor so servermi, napájaním, sieťou a chladením.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53912" y="2468880"/>
            <a:ext cx="5340096" cy="1042416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633472"/>
            <a:ext cx="41148" cy="685800"/>
          </a:xfrm>
          <a:prstGeom prst="rect">
            <a:avLst>
              <a:gd name="adj" fmla="val 333333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2587752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záťaž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55664" y="2944368"/>
            <a:ext cx="48188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Elektrický príkon serverov; v štúdii sa uvažuje špička 10 MW.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" y="3648456"/>
            <a:ext cx="5340096" cy="1042416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3813048"/>
            <a:ext cx="41148" cy="685800"/>
          </a:xfrm>
          <a:prstGeom prst="rect">
            <a:avLst>
              <a:gd name="adj" fmla="val 333333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" y="3767328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Odpadové teplo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6696" y="4123944"/>
            <a:ext cx="48188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Teplo, ktoré je nutné odviesť z IT zariadení.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53912" y="3648456"/>
            <a:ext cx="5340096" cy="1042416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3813048"/>
            <a:ext cx="41148" cy="685800"/>
          </a:xfrm>
          <a:prstGeom prst="rect">
            <a:avLst>
              <a:gd name="adj" fmla="val 333333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3767328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Okruh teplonosnej látky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55664" y="4123944"/>
            <a:ext cx="48188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Potrubie, čerpadlá a kvapalina prenášajúca teplo.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4944" y="4828032"/>
            <a:ext cx="5340096" cy="1042416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0392" y="4992624"/>
            <a:ext cx="41148" cy="685800"/>
          </a:xfrm>
          <a:prstGeom prst="rect">
            <a:avLst>
              <a:gd name="adj" fmla="val 333333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6696" y="4946904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Výmenník tepla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96696" y="5303520"/>
            <a:ext cx="48188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Prenáša teplo medzi hydraulicky oddelenými prúdmi vody.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53912" y="4828032"/>
            <a:ext cx="5340096" cy="1042416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4992624"/>
            <a:ext cx="41148" cy="685800"/>
          </a:xfrm>
          <a:prstGeom prst="rect">
            <a:avLst>
              <a:gd name="adj" fmla="val 333333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55664" y="4946904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Teplovodná sieť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55664" y="5303520"/>
            <a:ext cx="48188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Spoločná distribúcia tepla do budov pomocou teplej vody.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SLOVNÍK PROJEKTU · 2/2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Ako systém dodáva teplo a zvláda poruchy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Časť pojmov opisuje efektívnosť, ostatné bezpečnosť serverov.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2025 · výskum, nie meranie prevádzky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94944" y="2432304"/>
            <a:ext cx="5340096" cy="1014984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596896"/>
            <a:ext cx="41148" cy="649224"/>
          </a:xfrm>
          <a:prstGeom prst="rect">
            <a:avLst>
              <a:gd name="adj" fmla="val 333333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2542032"/>
            <a:ext cx="4864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Rekuperácia tepla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6696" y="2898648"/>
            <a:ext cx="48188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Znovuvyužitie tepla, ktoré by sa inak odviedlo.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6153912" y="2432304"/>
            <a:ext cx="5340096" cy="1014984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596896"/>
            <a:ext cx="41148" cy="649224"/>
          </a:xfrm>
          <a:prstGeom prst="rect">
            <a:avLst>
              <a:gd name="adj" fmla="val 333333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2542032"/>
            <a:ext cx="4864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Tepelné čerpadlo (TČ)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55664" y="2898648"/>
            <a:ext cx="48188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Pomocou elektriny zvýši teplotu tepla na použiteľnú úroveň.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694944" y="3566160"/>
            <a:ext cx="5340096" cy="1014984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3730752"/>
            <a:ext cx="41148" cy="649224"/>
          </a:xfrm>
          <a:prstGeom prst="rect">
            <a:avLst>
              <a:gd name="adj" fmla="val 333333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" y="3675888"/>
            <a:ext cx="4864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Zásobník TES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6696" y="4032504"/>
            <a:ext cx="48188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Ukladá teplo a vyrovnáva rozdiel medzi dodávkou a odberom.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6153912" y="3566160"/>
            <a:ext cx="5340096" cy="1014984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3730752"/>
            <a:ext cx="41148" cy="649224"/>
          </a:xfrm>
          <a:prstGeom prst="rect">
            <a:avLst>
              <a:gd name="adj" fmla="val 333333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3675888"/>
            <a:ext cx="4864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Plynová záloha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55664" y="4032504"/>
            <a:ext cx="48188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Dodáva chýbajúce teplo, ak vlastné zdroje nestačia.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694944" y="4700016"/>
            <a:ext cx="5340096" cy="1014984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0392" y="4864608"/>
            <a:ext cx="41148" cy="649224"/>
          </a:xfrm>
          <a:prstGeom prst="rect">
            <a:avLst>
              <a:gd name="adj" fmla="val 333333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6696" y="4809744"/>
            <a:ext cx="4864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Redundancia N+1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96696" y="5166360"/>
            <a:ext cx="48188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 pracovným jednotkám pribúda jedna rezervná pri poruche.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6153912" y="4700016"/>
            <a:ext cx="5340096" cy="1014984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4864608"/>
            <a:ext cx="41148" cy="649224"/>
          </a:xfrm>
          <a:prstGeom prst="rect">
            <a:avLst>
              <a:gd name="adj" fmla="val 333333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55664" y="4809744"/>
            <a:ext cx="4864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SCADA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55664" y="5166360"/>
            <a:ext cx="48188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Dohľad a riadenie: teploty, toky, alarmy a trendy.</a:t>
            </a:r>
            <a:endParaRPr lang="en-US" sz="1180" dirty="0"/>
          </a:p>
        </p:txBody>
      </p:sp>
      <p:sp>
        <p:nvSpPr>
          <p:cNvPr id="35" name="Shape 33"/>
          <p:cNvSpPr/>
          <p:nvPr/>
        </p:nvSpPr>
        <p:spPr>
          <a:xfrm>
            <a:off x="713232" y="5934456"/>
            <a:ext cx="10826496" cy="429768"/>
          </a:xfrm>
          <a:prstGeom prst="roundRect">
            <a:avLst>
              <a:gd name="adj" fmla="val 31915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2688" y="6062472"/>
            <a:ext cx="10415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Dôležité: 1 MW je okamžitý výkon; 1 MWh je energia dodaná výkonom 1 MW počas 1 hodiny.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KARTA PREMENNÝCH · 1/2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Šesť veličín v schémach a grafoch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MW vyjadruje výkon, °C teplotu. MWh je odlišná jednotka energie.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2025 · výskum, nie meranie prevádzky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13232" y="2450592"/>
            <a:ext cx="10808208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376" y="2459736"/>
            <a:ext cx="10789920" cy="466344"/>
          </a:xfrm>
          <a:prstGeom prst="rect">
            <a:avLst>
              <a:gd name="adj" fmla="val 29412"/>
            </a:avLst>
          </a:prstGeom>
          <a:solidFill>
            <a:srgbClr val="CFE2DF"/>
          </a:solidFill>
          <a:ln w="12700">
            <a:solidFill>
              <a:srgbClr val="CFE2D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5603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OZNAČENIE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98648" y="2560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JEDNOTKA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87952" y="2560320"/>
            <a:ext cx="6931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VÝZNAM A PÔVOD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0358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P_IT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898648" y="303580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87952" y="3017520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Elektrický príkon serverov; profil je modelový.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731520" y="3451860"/>
            <a:ext cx="10762488" cy="484632"/>
          </a:xfrm>
          <a:prstGeom prst="rect">
            <a:avLst>
              <a:gd name="adj" fmla="val 28302"/>
            </a:avLst>
          </a:prstGeom>
          <a:solidFill>
            <a:srgbClr val="F4F1EB"/>
          </a:solidFill>
          <a:ln w="12700">
            <a:solidFill>
              <a:srgbClr val="F4F1E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52958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Q_avail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898648" y="352958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87952" y="3511296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Dostupné serverové teplo na rekuperáciu; model, nie merač.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914400" y="40233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Q_pool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898648" y="402336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MW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87952" y="4005072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Užitočné teplo do bazéna vrátane prípadného TČ.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731520" y="4439412"/>
            <a:ext cx="10762488" cy="484632"/>
          </a:xfrm>
          <a:prstGeom prst="rect">
            <a:avLst>
              <a:gd name="adj" fmla="val 28302"/>
            </a:avLst>
          </a:prstGeom>
          <a:solidFill>
            <a:srgbClr val="F4F1EB"/>
          </a:solidFill>
          <a:ln w="12700">
            <a:solidFill>
              <a:srgbClr val="F4F1E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5171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Q_DH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2898648" y="451713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MW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87952" y="4498848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Užitočný tepelný výkon dodaný TČ do siete.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914400" y="50109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P_HP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2898648" y="501091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MW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87952" y="4992624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Elektrický príkon kompresora tepelného čerpadla.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731520" y="5426964"/>
            <a:ext cx="10762488" cy="484632"/>
          </a:xfrm>
          <a:prstGeom prst="rect">
            <a:avLst>
              <a:gd name="adj" fmla="val 28302"/>
            </a:avLst>
          </a:prstGeom>
          <a:solidFill>
            <a:srgbClr val="F4F1EB"/>
          </a:solidFill>
          <a:ln w="12700">
            <a:solidFill>
              <a:srgbClr val="F4F1E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55046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T_pool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2898648" y="550468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°C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187952" y="5486400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Teplota vody; tu vypočítaná v Simulinku, nie nameraná.</a:t>
            </a:r>
            <a:endParaRPr lang="en-US" sz="1180" dirty="0"/>
          </a:p>
        </p:txBody>
      </p:sp>
      <p:sp>
        <p:nvSpPr>
          <p:cNvPr id="37" name="Shape 35"/>
          <p:cNvSpPr/>
          <p:nvPr/>
        </p:nvSpPr>
        <p:spPr>
          <a:xfrm>
            <a:off x="713232" y="6035040"/>
            <a:ext cx="10808208" cy="356616"/>
          </a:xfrm>
          <a:prstGeom prst="roundRect">
            <a:avLst>
              <a:gd name="adj" fmla="val 38462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5256" y="6085332"/>
            <a:ext cx="10378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 TČ platí: užitočné teplo = teplo zdroja + elektrina kompresora.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KARTA PREMENNÝCH · 2/2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Ročná energia a ukazovatele účinnosti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Chýbajúci ERF nie je chyba: bez meračov ho nemožno vydávať za nameraný.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2025 · výskum, nie meranie prevádzky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13232" y="2450592"/>
            <a:ext cx="10808208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376" y="2459736"/>
            <a:ext cx="10789920" cy="466344"/>
          </a:xfrm>
          <a:prstGeom prst="rect">
            <a:avLst>
              <a:gd name="adj" fmla="val 29412"/>
            </a:avLst>
          </a:prstGeom>
          <a:solidFill>
            <a:srgbClr val="CFE2DF"/>
          </a:solidFill>
          <a:ln w="12700">
            <a:solidFill>
              <a:srgbClr val="CFE2D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5603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OZNAČENIE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98648" y="2560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JEDNOTKA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87952" y="2560320"/>
            <a:ext cx="6931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VÝZNAM A PÔVOD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0358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E_IT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898648" y="303580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MWh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87952" y="3017520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Energia IT za obdobie; získaná z modelového profilu.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731520" y="3451860"/>
            <a:ext cx="10762488" cy="484632"/>
          </a:xfrm>
          <a:prstGeom prst="rect">
            <a:avLst>
              <a:gd name="adj" fmla="val 28302"/>
            </a:avLst>
          </a:prstGeom>
          <a:solidFill>
            <a:srgbClr val="F4F1EB"/>
          </a:solidFill>
          <a:ln w="12700">
            <a:solidFill>
              <a:srgbClr val="F4F1E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52958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E_DC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898648" y="352958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MWh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87952" y="3511296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Celková energia DC: IT a infraštruktúra; zatiaľ odhad.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914400" y="40233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E_src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898648" y="402336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MWh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87952" y="4005072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Ročne odobraté serverové teplo; nie oficiálny ERF.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731520" y="4439412"/>
            <a:ext cx="10762488" cy="484632"/>
          </a:xfrm>
          <a:prstGeom prst="rect">
            <a:avLst>
              <a:gd name="adj" fmla="val 28302"/>
            </a:avLst>
          </a:prstGeom>
          <a:solidFill>
            <a:srgbClr val="F4F1EB"/>
          </a:solidFill>
          <a:ln w="12700">
            <a:solidFill>
              <a:srgbClr val="F4F1E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5171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2898648" y="451713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87952" y="4498848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Koľko užitočného tepla TČ dodá na jednotku elektriny.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914400" y="50109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PUE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2898648" y="501091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87952" y="4992624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E_DC / E_IT; 1,36 je scenár, nie meranie.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731520" y="5426964"/>
            <a:ext cx="10762488" cy="484632"/>
          </a:xfrm>
          <a:prstGeom prst="rect">
            <a:avLst>
              <a:gd name="adj" fmla="val 28302"/>
            </a:avLst>
          </a:prstGeom>
          <a:solidFill>
            <a:srgbClr val="F4F1EB"/>
          </a:solidFill>
          <a:ln w="12700">
            <a:solidFill>
              <a:srgbClr val="F4F1E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55046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ERF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2898648" y="550468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187952" y="5486400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Podiel znovuvyužitej energie cez hranicu DC; chýba meranie.</a:t>
            </a:r>
            <a:endParaRPr lang="en-US" sz="1180" dirty="0"/>
          </a:p>
        </p:txBody>
      </p:sp>
      <p:sp>
        <p:nvSpPr>
          <p:cNvPr id="37" name="Shape 35"/>
          <p:cNvSpPr/>
          <p:nvPr/>
        </p:nvSpPr>
        <p:spPr>
          <a:xfrm>
            <a:off x="713232" y="6035040"/>
            <a:ext cx="10808208" cy="356616"/>
          </a:xfrm>
          <a:prstGeom prst="roundRect">
            <a:avLst>
              <a:gd name="adj" fmla="val 38462"/>
            </a:avLst>
          </a:prstGeom>
          <a:solidFill>
            <a:srgbClr val="F1DDCE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5256" y="6085332"/>
            <a:ext cx="10378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7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Údaje: PREDPOKLAD (10 MW, PUE) · MODEL (Simulink) · NEMERANÉ (ERF, skutočný COP).</a:t>
            </a:r>
            <a:endParaRPr lang="en-US" sz="10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PROBLÉM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Servery nevyrábajú iba výpočty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Takmer všetka elektrina spotrebovaná servermi sa napokon zmení na teplo.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2025 · výskum, nie meranie prevádzky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0080" y="2423160"/>
            <a:ext cx="3675888" cy="3447288"/>
          </a:xfrm>
          <a:prstGeom prst="roundRect">
            <a:avLst>
              <a:gd name="adj" fmla="val 3979"/>
            </a:avLst>
          </a:prstGeom>
          <a:solidFill>
            <a:srgbClr val="0E2530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81635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MW</a:t>
            </a:r>
            <a:endParaRPr lang="en-US" sz="5100" dirty="0"/>
          </a:p>
        </p:txBody>
      </p:sp>
      <p:sp>
        <p:nvSpPr>
          <p:cNvPr id="13" name="Text 11"/>
          <p:cNvSpPr/>
          <p:nvPr/>
        </p:nvSpPr>
        <p:spPr>
          <a:xfrm>
            <a:off x="941832" y="3849624"/>
            <a:ext cx="29809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3D5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predpokladaný špičkový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3D5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výkon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681728" y="2432304"/>
            <a:ext cx="6720840" cy="1408176"/>
          </a:xfrm>
          <a:prstGeom prst="roundRect">
            <a:avLst>
              <a:gd name="adj" fmla="val 9740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265176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4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Servery treba chladiť 24/7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956048" y="3246120"/>
            <a:ext cx="6035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 keď bazén a mesto práve teplo nepotrebujú.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81728" y="4041648"/>
            <a:ext cx="6720840" cy="1801368"/>
          </a:xfrm>
          <a:prstGeom prst="roundRect">
            <a:avLst>
              <a:gd name="adj" fmla="val 7614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4336" y="4270248"/>
            <a:ext cx="6126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1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Bežná cesta — vypustiť teplo do ovzdušia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974336" y="4882896"/>
            <a:ext cx="5934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Naša otázka: koľko tepla možno znovu využiť bez ohrozenia IT?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KONCEPT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Jedna myšlienka: teplo má druhú adresu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Nie namiesto chladenia serverov, ale popri ňom.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2025 · výskum, nie meranie prevádzky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77240" y="2743200"/>
            <a:ext cx="2990088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29718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33272" y="350215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0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Dátové centrum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42416" y="4032504"/>
            <a:ext cx="2514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Ohrieva technickú vodu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03904" y="3657600"/>
            <a:ext cx="356616" cy="0"/>
          </a:xfrm>
          <a:prstGeom prst="line">
            <a:avLst/>
          </a:prstGeom>
          <a:noFill/>
          <a:ln w="34290">
            <a:solidFill>
              <a:srgbClr val="C7704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15384" y="2743200"/>
            <a:ext cx="2990088" cy="1965960"/>
          </a:xfrm>
          <a:prstGeom prst="roundRect">
            <a:avLst>
              <a:gd name="adj" fmla="val 6977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71416" y="29718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471416" y="350215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0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Rekuperácia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480560" y="4032504"/>
            <a:ext cx="2514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Odovzdá teplo cez oddelené okruhy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42048" y="3657600"/>
            <a:ext cx="356616" cy="0"/>
          </a:xfrm>
          <a:prstGeom prst="line">
            <a:avLst/>
          </a:prstGeom>
          <a:noFill/>
          <a:ln w="34290">
            <a:solidFill>
              <a:srgbClr val="C77049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653528" y="2743200"/>
            <a:ext cx="2990088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09560" y="29718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909560" y="350215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0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Užitočné teplo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918704" y="4032504"/>
            <a:ext cx="2514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Bazén + teplovodná sieť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86384" y="5120640"/>
            <a:ext cx="10424160" cy="603504"/>
          </a:xfrm>
          <a:prstGeom prst="roundRect">
            <a:avLst>
              <a:gd name="adj" fmla="val 22727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5248656"/>
            <a:ext cx="10012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Záložné chladenie zostáva nezávislé od predaja tepla.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ARCHITEKTÚRA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Ako funguje celé zariadenie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Najprv odoberieme dostupné serverové teplo, potom ho podľa potreby rozdelíme.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2025 · výskum, nie meranie prevádzky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0080" y="2642616"/>
            <a:ext cx="2779776" cy="1143000"/>
          </a:xfrm>
          <a:prstGeom prst="roundRect">
            <a:avLst>
              <a:gd name="adj" fmla="val 12000"/>
            </a:avLst>
          </a:prstGeom>
          <a:solidFill>
            <a:srgbClr val="0E2530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898648"/>
            <a:ext cx="2377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Servery / chladenie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13632" y="2642616"/>
            <a:ext cx="2523744" cy="1143000"/>
          </a:xfrm>
          <a:prstGeom prst="roundRect">
            <a:avLst>
              <a:gd name="adj" fmla="val 12000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42232" y="292608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Tepelný okruh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29000" y="3218688"/>
            <a:ext cx="457200" cy="0"/>
          </a:xfrm>
          <a:prstGeom prst="line">
            <a:avLst/>
          </a:prstGeom>
          <a:noFill/>
          <a:ln w="33020">
            <a:solidFill>
              <a:srgbClr val="C7704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58584" y="2359152"/>
            <a:ext cx="4270248" cy="1033272"/>
          </a:xfrm>
          <a:prstGeom prst="roundRect">
            <a:avLst>
              <a:gd name="adj" fmla="val 13274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14616" y="2651760"/>
            <a:ext cx="3694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Tepelné čerpadlo → sieť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58584" y="3730752"/>
            <a:ext cx="4270248" cy="1024128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14616" y="4005072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Výmenník → bazén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37376" y="3209544"/>
            <a:ext cx="484632" cy="-338328"/>
          </a:xfrm>
          <a:prstGeom prst="line">
            <a:avLst/>
          </a:prstGeom>
          <a:noFill/>
          <a:ln w="33020">
            <a:solidFill>
              <a:srgbClr val="267F7C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46520" y="3209544"/>
            <a:ext cx="475488" cy="932688"/>
          </a:xfrm>
          <a:prstGeom prst="line">
            <a:avLst/>
          </a:prstGeom>
          <a:noFill/>
          <a:ln w="33020">
            <a:solidFill>
              <a:srgbClr val="267F7C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40080" y="4663440"/>
            <a:ext cx="5797296" cy="896112"/>
          </a:xfrm>
          <a:prstGeom prst="roundRect">
            <a:avLst>
              <a:gd name="adj" fmla="val 15306"/>
            </a:avLst>
          </a:prstGeom>
          <a:solidFill>
            <a:srgbClr val="F1DDCE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4928616"/>
            <a:ext cx="54223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Nezávislé záložné chladenie IT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029968" y="3794760"/>
            <a:ext cx="0" cy="868680"/>
          </a:xfrm>
          <a:prstGeom prst="line">
            <a:avLst/>
          </a:prstGeom>
          <a:noFill/>
          <a:ln w="25400">
            <a:solidFill>
              <a:srgbClr val="C77049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6931152" y="5001768"/>
            <a:ext cx="4343400" cy="713232"/>
          </a:xfrm>
          <a:prstGeom prst="roundRect">
            <a:avLst>
              <a:gd name="adj" fmla="val 19231"/>
            </a:avLst>
          </a:prstGeom>
          <a:solidFill>
            <a:srgbClr val="F1DDCE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0608" y="512978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 každej poruche siete musí chladenie serverov zostať funkčné.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ROČNÁ BILANCIA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Čo vyšlo za modelový rok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Teplo zo serverov sa rozdelilo na využité a odvedené do okolia.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2025 · výskum, nie meranie prevádzky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" y="258775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48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71.8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795528" y="3438144"/>
            <a:ext cx="38496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GWh IT tepla za rok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00016" y="2798064"/>
            <a:ext cx="6574536" cy="576072"/>
          </a:xfrm>
          <a:prstGeom prst="roundRect">
            <a:avLst>
              <a:gd name="adj" fmla="val 23810"/>
            </a:avLst>
          </a:prstGeom>
          <a:solidFill>
            <a:srgbClr val="E7ECEA"/>
          </a:solidFill>
          <a:ln w="12700">
            <a:solidFill>
              <a:srgbClr val="E7ECEA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0016" y="2798064"/>
            <a:ext cx="3503113" cy="576072"/>
          </a:xfrm>
          <a:prstGeom prst="rect">
            <a:avLst>
              <a:gd name="adj" fmla="val 23810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03129" y="2798064"/>
            <a:ext cx="3071423" cy="576072"/>
          </a:xfrm>
          <a:prstGeom prst="rect">
            <a:avLst>
              <a:gd name="adj" fmla="val 23810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3675888"/>
            <a:ext cx="2514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38.3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727448" y="44256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GWh znovu využité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02752" y="3675888"/>
            <a:ext cx="25054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33.6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302752" y="44256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GWh odvedené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5321808"/>
            <a:ext cx="10552176" cy="512064"/>
          </a:xfrm>
          <a:prstGeom prst="roundRect">
            <a:avLst>
              <a:gd name="adj" fmla="val 26786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2416" y="5449824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Toto je modelová bilancia, nie oficiálne nameraný ERF.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VSTUPY MODELU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Odkiaľ pochádzajú čísla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Silná stránka: opakovateľnosť. Slabina: chýbajú merania reálneho dátového centra.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2025 · výskum, nie meranie prevádzky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40664" y="2414016"/>
            <a:ext cx="5065776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5256" y="2587752"/>
            <a:ext cx="50292" cy="777240"/>
          </a:xfrm>
          <a:prstGeom prst="rect">
            <a:avLst>
              <a:gd name="adj" fmla="val 272727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2560320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Počasie: externé dáta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60704" y="2916936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 POWER • Bratislava • 8760 hodín roku 2025. Mrežová reanalýza.</a:t>
            </a:r>
            <a:endParaRPr lang="en-US" sz="1210" dirty="0"/>
          </a:p>
        </p:txBody>
      </p:sp>
      <p:sp>
        <p:nvSpPr>
          <p:cNvPr id="15" name="Shape 13"/>
          <p:cNvSpPr/>
          <p:nvPr/>
        </p:nvSpPr>
        <p:spPr>
          <a:xfrm>
            <a:off x="6007608" y="2414016"/>
            <a:ext cx="5084064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2587752"/>
            <a:ext cx="50292" cy="777240"/>
          </a:xfrm>
          <a:prstGeom prst="rect">
            <a:avLst>
              <a:gd name="adj" fmla="val 272727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2560320"/>
            <a:ext cx="4626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Servery: scenárová záťaž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27648" y="2916936"/>
            <a:ext cx="4581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Výkon a pomer rekuperácie sú model, nie skutočné elektromery.</a:t>
            </a:r>
            <a:endParaRPr lang="en-US" sz="1210" dirty="0"/>
          </a:p>
        </p:txBody>
      </p:sp>
      <p:sp>
        <p:nvSpPr>
          <p:cNvPr id="19" name="Shape 17"/>
          <p:cNvSpPr/>
          <p:nvPr/>
        </p:nvSpPr>
        <p:spPr>
          <a:xfrm>
            <a:off x="740664" y="3840480"/>
            <a:ext cx="5065776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" y="4014216"/>
            <a:ext cx="50292" cy="777240"/>
          </a:xfrm>
          <a:prstGeom prst="rect">
            <a:avLst>
              <a:gd name="adj" fmla="val 272727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3986784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Fyzika: MATLAB / Simulink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60704" y="4343400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Zdroj, bazén, TČ, TES a plynová záloha v kroku 5 minút.</a:t>
            </a:r>
            <a:endParaRPr lang="en-US" sz="1210" dirty="0"/>
          </a:p>
        </p:txBody>
      </p:sp>
      <p:sp>
        <p:nvSpPr>
          <p:cNvPr id="23" name="Shape 21"/>
          <p:cNvSpPr/>
          <p:nvPr/>
        </p:nvSpPr>
        <p:spPr>
          <a:xfrm>
            <a:off x="6007608" y="3840480"/>
            <a:ext cx="5084064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4014216"/>
            <a:ext cx="50292" cy="777240"/>
          </a:xfrm>
          <a:prstGeom prst="rect">
            <a:avLst>
              <a:gd name="adj" fmla="val 272727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3986784"/>
            <a:ext cx="4626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Kontrola: nezávislý QA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27648" y="4343400"/>
            <a:ext cx="4581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Overené bilancie a 420 480 záznamov zo štyroch ročných variantov.</a:t>
            </a:r>
            <a:endParaRPr lang="en-US" sz="12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POČASIE A DOPYT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 zime je potreba tepla omnoho väčšia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Dopyt siete bol odvodený z hodinových teplôt Bratislavy za rok 2025.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2025 · výskum, nie meranie prevádzky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68680" y="5458968"/>
            <a:ext cx="10561320" cy="0"/>
          </a:xfrm>
          <a:prstGeom prst="line">
            <a:avLst/>
          </a:prstGeom>
          <a:noFill/>
          <a:ln w="1270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33856" y="3218688"/>
            <a:ext cx="521208" cy="2240280"/>
          </a:xfrm>
          <a:prstGeom prst="rect">
            <a:avLst>
              <a:gd name="adj" fmla="val 26316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65960" y="3345292"/>
            <a:ext cx="521208" cy="2113676"/>
          </a:xfrm>
          <a:prstGeom prst="rect">
            <a:avLst>
              <a:gd name="adj" fmla="val 26316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98064" y="4002511"/>
            <a:ext cx="521208" cy="1456457"/>
          </a:xfrm>
          <a:prstGeom prst="rect">
            <a:avLst>
              <a:gd name="adj" fmla="val 26316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52344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30168" y="4544323"/>
            <a:ext cx="521208" cy="914645"/>
          </a:xfrm>
          <a:prstGeom prst="rect">
            <a:avLst>
              <a:gd name="adj" fmla="val 26316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84448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62272" y="4719765"/>
            <a:ext cx="521208" cy="739203"/>
          </a:xfrm>
          <a:prstGeom prst="rect">
            <a:avLst>
              <a:gd name="adj" fmla="val 26316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16552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94376" y="5052424"/>
            <a:ext cx="521208" cy="406544"/>
          </a:xfrm>
          <a:prstGeom prst="rect">
            <a:avLst>
              <a:gd name="adj" fmla="val 33738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48656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5054125"/>
            <a:ext cx="521208" cy="404843"/>
          </a:xfrm>
          <a:prstGeom prst="rect">
            <a:avLst>
              <a:gd name="adj" fmla="val 33880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58584" y="5039462"/>
            <a:ext cx="521208" cy="419506"/>
          </a:xfrm>
          <a:prstGeom prst="rect">
            <a:avLst>
              <a:gd name="adj" fmla="val 32696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12864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90688" y="4949089"/>
            <a:ext cx="521208" cy="509879"/>
          </a:xfrm>
          <a:prstGeom prst="rect">
            <a:avLst>
              <a:gd name="adj" fmla="val 26900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44968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622792" y="4391180"/>
            <a:ext cx="521208" cy="1067788"/>
          </a:xfrm>
          <a:prstGeom prst="rect">
            <a:avLst>
              <a:gd name="adj" fmla="val 26316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77072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454896" y="3731977"/>
            <a:ext cx="521208" cy="1726991"/>
          </a:xfrm>
          <a:prstGeom prst="rect">
            <a:avLst>
              <a:gd name="adj" fmla="val 26316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09176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287000" y="3297617"/>
            <a:ext cx="521208" cy="2161351"/>
          </a:xfrm>
          <a:prstGeom prst="rect">
            <a:avLst>
              <a:gd name="adj" fmla="val 26316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41280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68680" y="2368296"/>
            <a:ext cx="8503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Mesačné teplo dodané teplovodnej sieti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47472" y="300837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536752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04672" y="58704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tis. MWh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TEPLOVODNÁ SIEŤ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Kto pokrýva ročnú potrebu tepla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Tepelné čerpadlo dodá väčšinu; plyn pokrýva nedostatok a špičky.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2025 · výskum, nie meranie prevádzky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86384" y="2432304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56.8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86384" y="294436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GWh potreba siete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98848" y="2432304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47.8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498848" y="294436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GWh dodané TČ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56448" y="2432304"/>
            <a:ext cx="2743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9.19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156448" y="294436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GWh záložné teplo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215384"/>
            <a:ext cx="8573723" cy="676656"/>
          </a:xfrm>
          <a:prstGeom prst="rect">
            <a:avLst>
              <a:gd name="adj" fmla="val 20270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88123" y="4215384"/>
            <a:ext cx="1649269" cy="676656"/>
          </a:xfrm>
          <a:prstGeom prst="rect">
            <a:avLst>
              <a:gd name="adj" fmla="val 20270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5184648"/>
            <a:ext cx="137160" cy="137160"/>
          </a:xfrm>
          <a:prstGeom prst="rect">
            <a:avLst>
              <a:gd name="adj" fmla="val 100000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33856" y="5157216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Tepelné čerpadlo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0" y="5184648"/>
            <a:ext cx="137160" cy="137160"/>
          </a:xfrm>
          <a:prstGeom prst="rect">
            <a:avLst>
              <a:gd name="adj" fmla="val 100000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34256" y="5157216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Plynová záloha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5733288"/>
            <a:ext cx="10195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Rezerva a akumulácia pracujú v čase: súčty tokov zahŕňajú aj nabíjanie/vybíjanie TES.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PRAKTICKÝ PRÍKLAD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Bazén: ľuďom zrozumiteľný výsledok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Predpoklad 25 × 12,5 × 1,6 m nie je všeobecne platný športový štandard.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2025 · výskum, nie meranie prevádzky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77240" y="2487168"/>
            <a:ext cx="4187952" cy="3127248"/>
          </a:xfrm>
          <a:prstGeom prst="roundRect">
            <a:avLst>
              <a:gd name="adj" fmla="val 4386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07008" y="2953512"/>
            <a:ext cx="3273552" cy="1380744"/>
          </a:xfrm>
          <a:prstGeom prst="roundRect">
            <a:avLst>
              <a:gd name="adj" fmla="val 9934"/>
            </a:avLst>
          </a:prstGeom>
          <a:solidFill>
            <a:srgbClr val="80C6C7"/>
          </a:solidFill>
          <a:ln w="19050">
            <a:solidFill>
              <a:srgbClr val="267F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08176" y="3246120"/>
            <a:ext cx="2871216" cy="0"/>
          </a:xfrm>
          <a:prstGeom prst="line">
            <a:avLst/>
          </a:prstGeom>
          <a:noFill/>
          <a:ln w="2032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408176" y="3502152"/>
            <a:ext cx="2871216" cy="0"/>
          </a:xfrm>
          <a:prstGeom prst="line">
            <a:avLst/>
          </a:prstGeom>
          <a:noFill/>
          <a:ln w="2032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408176" y="3758184"/>
            <a:ext cx="2871216" cy="0"/>
          </a:xfrm>
          <a:prstGeom prst="line">
            <a:avLst/>
          </a:prstGeom>
          <a:noFill/>
          <a:ln w="2032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408176" y="4014216"/>
            <a:ext cx="2871216" cy="0"/>
          </a:xfrm>
          <a:prstGeom prst="line">
            <a:avLst/>
          </a:prstGeom>
          <a:noFill/>
          <a:ln w="2032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161288" y="46268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× 12.5 × 1.6 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04104" y="2505456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 m³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5404104" y="301752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objem vody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39328" y="2505456"/>
            <a:ext cx="2788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 kW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339328" y="301752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výkon ohrevu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22392" y="4105656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250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5422392" y="461772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MWh tepla ročne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21040" y="4105656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27.62 °C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8321040" y="461772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maximum v modeli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FYZIKA BAZÉNA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Ako bazén teplo stráca a získava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zahŕňa tepelnú kapacitu, odpar, konvekciu, žiarenie aj dopúšťanie vody.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2025 · výskum, nie meranie prevádzky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77240" y="2423160"/>
            <a:ext cx="10689336" cy="28803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27157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Zmena teploty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" y="3273552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ΔT = (Qin − Qloss) · Δt / (ρ · V · cp)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1051560" y="4050792"/>
            <a:ext cx="10085832" cy="0"/>
          </a:xfrm>
          <a:prstGeom prst="line">
            <a:avLst/>
          </a:prstGeom>
          <a:noFill/>
          <a:ln w="1270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097280" y="430682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Qin: prívod tepla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62856" y="43068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Qloss: straty tepla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57032" y="43068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V: objem vody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4672" y="5550408"/>
            <a:ext cx="10570464" cy="621792"/>
          </a:xfrm>
          <a:prstGeom prst="roundRect">
            <a:avLst>
              <a:gd name="adj" fmla="val 22059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5678424"/>
            <a:ext cx="10158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Zakrytie hladiny zníži odpar aj potrebu tepla.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DVA REŽIMY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 °C: priamo. 25 °C: s kompresorom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Rozhoduje dostupná teplota chladiacej kvapaliny dátového centra.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2025 · výskum, nie meranie prevádzky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13232" y="2487168"/>
            <a:ext cx="5239512" cy="3035808"/>
          </a:xfrm>
          <a:prstGeom prst="roundRect">
            <a:avLst>
              <a:gd name="adj" fmla="val 4518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2761488"/>
            <a:ext cx="1956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 °C</a:t>
            </a:r>
            <a:endParaRPr lang="en-US" sz="3100" dirty="0"/>
          </a:p>
        </p:txBody>
      </p:sp>
      <p:sp>
        <p:nvSpPr>
          <p:cNvPr id="13" name="Shape 11"/>
          <p:cNvSpPr/>
          <p:nvPr/>
        </p:nvSpPr>
        <p:spPr>
          <a:xfrm>
            <a:off x="3364992" y="2889504"/>
            <a:ext cx="2121408" cy="310896"/>
          </a:xfrm>
          <a:prstGeom prst="roundRect">
            <a:avLst>
              <a:gd name="adj" fmla="val 44118"/>
            </a:avLst>
          </a:prstGeom>
          <a:solidFill>
            <a:srgbClr val="CFE2DF"/>
          </a:solidFill>
          <a:ln w="12700">
            <a:solidFill>
              <a:srgbClr val="CFE2D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916936"/>
            <a:ext cx="190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Priamy prenos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188720" y="3776472"/>
            <a:ext cx="3922776" cy="0"/>
          </a:xfrm>
          <a:prstGeom prst="line">
            <a:avLst/>
          </a:prstGeom>
          <a:noFill/>
          <a:ln w="27940">
            <a:solidFill>
              <a:srgbClr val="267F7C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69848" y="397764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849624" y="3977640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Bazén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33272" y="4709160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Bez bazénového kompresora, ak výmenník naozaj spĺňa teplotný spád.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08776" y="2487168"/>
            <a:ext cx="5248656" cy="3035808"/>
          </a:xfrm>
          <a:prstGeom prst="roundRect">
            <a:avLst>
              <a:gd name="adj" fmla="val 4518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9672" y="2761488"/>
            <a:ext cx="1975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°C</a:t>
            </a:r>
            <a:endParaRPr lang="en-US" sz="3100" dirty="0"/>
          </a:p>
        </p:txBody>
      </p:sp>
      <p:sp>
        <p:nvSpPr>
          <p:cNvPr id="21" name="Shape 19"/>
          <p:cNvSpPr/>
          <p:nvPr/>
        </p:nvSpPr>
        <p:spPr>
          <a:xfrm>
            <a:off x="8705088" y="2889504"/>
            <a:ext cx="2286000" cy="310896"/>
          </a:xfrm>
          <a:prstGeom prst="roundRect">
            <a:avLst>
              <a:gd name="adj" fmla="val 44118"/>
            </a:avLst>
          </a:prstGeom>
          <a:solidFill>
            <a:srgbClr val="F1DDCE"/>
          </a:solidFill>
          <a:ln w="12700">
            <a:solidFill>
              <a:srgbClr val="F1DDC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14816" y="2916936"/>
            <a:ext cx="2066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Tepelné čerpadlo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29400" y="3776472"/>
            <a:ext cx="4005072" cy="0"/>
          </a:xfrm>
          <a:prstGeom prst="line">
            <a:avLst/>
          </a:prstGeom>
          <a:noFill/>
          <a:ln w="27940">
            <a:solidFill>
              <a:srgbClr val="C77049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483096" y="39776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Zdroj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668512" y="3977640"/>
            <a:ext cx="24597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Kompresor → bazén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4709160"/>
            <a:ext cx="4507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Spotreba elektriny; COP=4 je predpoklad modelu, nie certifikát výrobcu.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ODKIAĽ POCHÁDZA ENERGIA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Tepelné čerpadlo nevytvára teplo z ničoho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 25 °C časť tepla dodá zdroj a zvyšok elektrina kompresora.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2025 · výskum, nie meranie prevádzky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88136" y="2834640"/>
            <a:ext cx="6809858" cy="1024128"/>
          </a:xfrm>
          <a:prstGeom prst="rect">
            <a:avLst>
              <a:gd name="adj" fmla="val 13393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97994" y="2834640"/>
            <a:ext cx="2269953" cy="1024128"/>
          </a:xfrm>
          <a:prstGeom prst="rect">
            <a:avLst>
              <a:gd name="adj" fmla="val 13393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3063240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187.6 MWh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430768" y="3072384"/>
            <a:ext cx="15727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62.5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52144" y="4078224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Serverové teplo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62672" y="4078224"/>
            <a:ext cx="27340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Elektrina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29000" y="4937760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250.1 MWh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2990088" y="558698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užitočného tepla pre bazén za rok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TČ TEPLOVODNEJ SIETE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Prečo záleží na COP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 vyjadruje teplo vyrobené na jednotku elektriny.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2025 · výskum, nie meranie prevádzky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95528" y="2596896"/>
            <a:ext cx="5001768" cy="2496312"/>
          </a:xfrm>
          <a:prstGeom prst="roundRect">
            <a:avLst>
              <a:gd name="adj" fmla="val 5495"/>
            </a:avLst>
          </a:prstGeom>
          <a:solidFill>
            <a:srgbClr val="0E2530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6424" y="2962656"/>
            <a:ext cx="4498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 ≈ 4.90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133856" y="3904488"/>
            <a:ext cx="4416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CEE0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vypočítané zo syntetického Carnotovho modelu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2596896"/>
            <a:ext cx="5358384" cy="2496312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2935224"/>
            <a:ext cx="43891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47.8 GWh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345936" y="3611880"/>
            <a:ext cx="4142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teplo pre sieť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45936" y="40965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2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9.74 GWh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0" y="4105656"/>
            <a:ext cx="2688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elektrina kompresora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" y="5349240"/>
            <a:ext cx="10515600" cy="603504"/>
          </a:xfrm>
          <a:prstGeom prst="roundRect">
            <a:avLst>
              <a:gd name="adj" fmla="val 22727"/>
            </a:avLst>
          </a:prstGeom>
          <a:solidFill>
            <a:srgbClr val="F1DDCE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3272" y="5477256"/>
            <a:ext cx="1010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Reálny COP pri zdroji 25–35 °C a dodávke 70 °C musí potvrdiť výrobca.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ZARIADENIA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Aké zariadenia budú potrebné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Nie je to nákupný zoznam, ale zadanie na overený výber výrobcom.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2025 · výskum, nie meranie prevádzky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31520" y="2487168"/>
            <a:ext cx="5065776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2660904"/>
            <a:ext cx="50292" cy="777240"/>
          </a:xfrm>
          <a:prstGeom prst="rect">
            <a:avLst>
              <a:gd name="adj" fmla="val 272727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633472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Bazén: doskový výmenník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990088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 kW; pri 35/32 ↔ 27,5/29,5 °C asi 25 m² pri predpokladanom U.</a:t>
            </a:r>
            <a:endParaRPr lang="en-US" sz="1210" dirty="0"/>
          </a:p>
        </p:txBody>
      </p:sp>
      <p:sp>
        <p:nvSpPr>
          <p:cNvPr id="15" name="Shape 13"/>
          <p:cNvSpPr/>
          <p:nvPr/>
        </p:nvSpPr>
        <p:spPr>
          <a:xfrm>
            <a:off x="6035040" y="2487168"/>
            <a:ext cx="5056632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2660904"/>
            <a:ext cx="50292" cy="777240"/>
          </a:xfrm>
          <a:prstGeom prst="rect">
            <a:avLst>
              <a:gd name="adj" fmla="val 272727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633472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Teplovod: modulové TČ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2990088"/>
            <a:ext cx="4553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Carrier alebo Oilon; počet strojov až po OEM výbere výkonu a COP.</a:t>
            </a:r>
            <a:endParaRPr lang="en-US" sz="1210" dirty="0"/>
          </a:p>
        </p:txBody>
      </p:sp>
      <p:sp>
        <p:nvSpPr>
          <p:cNvPr id="19" name="Shape 17"/>
          <p:cNvSpPr/>
          <p:nvPr/>
        </p:nvSpPr>
        <p:spPr>
          <a:xfrm>
            <a:off x="731520" y="3931920"/>
            <a:ext cx="5065776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4105656"/>
            <a:ext cx="50292" cy="777240"/>
          </a:xfrm>
          <a:prstGeom prst="rect">
            <a:avLst>
              <a:gd name="adj" fmla="val 272727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078224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Čerpadlá a meranie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4434840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43,2 m³/h primárna a 64,8 m³/h bazénová strana v návrhovom bode.</a:t>
            </a:r>
            <a:endParaRPr lang="en-US" sz="1210" dirty="0"/>
          </a:p>
        </p:txBody>
      </p:sp>
      <p:sp>
        <p:nvSpPr>
          <p:cNvPr id="23" name="Shape 21"/>
          <p:cNvSpPr/>
          <p:nvPr/>
        </p:nvSpPr>
        <p:spPr>
          <a:xfrm>
            <a:off x="6035040" y="3931920"/>
            <a:ext cx="5056632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99632" y="4105656"/>
            <a:ext cx="50292" cy="777240"/>
          </a:xfrm>
          <a:prstGeom prst="rect">
            <a:avLst>
              <a:gd name="adj" fmla="val 272727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4078224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Chladenie serverov samostatne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55080" y="4434840"/>
            <a:ext cx="4553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Plných 10 MW chladenia aj bez odberateľov tepla, s rezervou N+1.</a:t>
            </a:r>
            <a:endParaRPr lang="en-US" sz="121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OVERENIE KATALÓGU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Menovitých 1,57 MW nie je výkon pri našich teplotách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Výrobný menovitý výkon platí iba pre publikované skúšobné teploty.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2025 · výskum, nie meranie prevádzky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6112" y="2542032"/>
            <a:ext cx="50932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1.57 MW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96112" y="3054096"/>
            <a:ext cx="5093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Carrier 61XWH-ZE17: zverejnený menovitý bod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73952" y="2542032"/>
            <a:ext cx="47365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+ 1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473952" y="3054096"/>
            <a:ext cx="4736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katalógových jednotiek na 9,42 MW + rezerva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" y="4270248"/>
            <a:ext cx="10552176" cy="1152144"/>
          </a:xfrm>
          <a:prstGeom prst="roundRect">
            <a:avLst>
              <a:gd name="adj" fmla="val 11905"/>
            </a:avLst>
          </a:prstGeom>
          <a:solidFill>
            <a:srgbClr val="F1DDCE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4535424"/>
            <a:ext cx="9939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Katalógová skúška: zdroj 20/15 °C → spotrebič 70/75 °C.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33272" y="5614416"/>
            <a:ext cx="100218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 našich 35/30 °C → 50/70 °C treba nezávislý výber výrobcu. 6+1 nie je objednávka.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OPTIMALIZÁCIA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Prečo nekupovať zbytočnú rezervu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Porovnávame špičky, nevyužitú kapacitu a záložný plyn.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2025 · výskum, nie meranie prevádzky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6112" y="2642616"/>
            <a:ext cx="1078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MW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276856" y="2596896"/>
            <a:ext cx="6263640" cy="429768"/>
          </a:xfrm>
          <a:prstGeom prst="roundRect">
            <a:avLst>
              <a:gd name="adj" fmla="val 31915"/>
            </a:avLst>
          </a:prstGeom>
          <a:solidFill>
            <a:srgbClr val="E7ECEA"/>
          </a:solidFill>
          <a:ln w="12700">
            <a:solidFill>
              <a:srgbClr val="E7ECEA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76856" y="2596896"/>
            <a:ext cx="6263640" cy="429768"/>
          </a:xfrm>
          <a:prstGeom prst="roundRect">
            <a:avLst>
              <a:gd name="adj" fmla="val 31915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23960" y="26243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10 303 MWh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6112" y="3401568"/>
            <a:ext cx="1078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MW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276856" y="3355848"/>
            <a:ext cx="6263640" cy="429768"/>
          </a:xfrm>
          <a:prstGeom prst="roundRect">
            <a:avLst>
              <a:gd name="adj" fmla="val 31915"/>
            </a:avLst>
          </a:prstGeom>
          <a:solidFill>
            <a:srgbClr val="E7ECEA"/>
          </a:solidFill>
          <a:ln w="12700">
            <a:solidFill>
              <a:srgbClr val="E7ECE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76856" y="3355848"/>
            <a:ext cx="2996971" cy="429768"/>
          </a:xfrm>
          <a:prstGeom prst="roundRect">
            <a:avLst>
              <a:gd name="adj" fmla="val 31915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23960" y="3383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2 564 MWh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" y="4160520"/>
            <a:ext cx="1078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MW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276856" y="4114800"/>
            <a:ext cx="6263640" cy="429768"/>
          </a:xfrm>
          <a:prstGeom prst="roundRect">
            <a:avLst>
              <a:gd name="adj" fmla="val 31915"/>
            </a:avLst>
          </a:prstGeom>
          <a:solidFill>
            <a:srgbClr val="E7ECEA"/>
          </a:solidFill>
          <a:ln w="12700">
            <a:solidFill>
              <a:srgbClr val="E7ECE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76856" y="4114800"/>
            <a:ext cx="79793" cy="429768"/>
          </a:xfrm>
          <a:prstGeom prst="roundRect">
            <a:avLst>
              <a:gd name="adj" fmla="val 171895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23960" y="41422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2,74 MWh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96112" y="4919472"/>
            <a:ext cx="1078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MW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276856" y="4873752"/>
            <a:ext cx="6263640" cy="429768"/>
          </a:xfrm>
          <a:prstGeom prst="roundRect">
            <a:avLst>
              <a:gd name="adj" fmla="val 31915"/>
            </a:avLst>
          </a:prstGeom>
          <a:solidFill>
            <a:srgbClr val="E7ECEA"/>
          </a:solidFill>
          <a:ln w="12700">
            <a:solidFill>
              <a:srgbClr val="E7ECEA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76856" y="4873752"/>
            <a:ext cx="0" cy="429768"/>
          </a:xfrm>
          <a:prstGeom prst="roundRect">
            <a:avLst>
              <a:gd name="adj" fmla="val Infinity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23960" y="49011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MWh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5256" y="5788152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Dodatočné ročné teplo z plynu pri obmedzení prevádzkového výkonu TČ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EKONOMIKA BAZÉNA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Najjednoduchšie riešenie je zatiaľ najvýhodnejšie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Porovnanie so samostatným plynovým ohrevom rovnakého bazéna, ceny Eurostat SK 2025.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2025 · výskum, nie meranie prevádzky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86384" y="2523744"/>
            <a:ext cx="4983480" cy="2139696"/>
          </a:xfrm>
          <a:prstGeom prst="roundRect">
            <a:avLst>
              <a:gd name="adj" fmla="val 6410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871216"/>
            <a:ext cx="4434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5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€12,307</a:t>
            </a:r>
            <a:endParaRPr lang="en-US" sz="3500" dirty="0"/>
          </a:p>
        </p:txBody>
      </p:sp>
      <p:sp>
        <p:nvSpPr>
          <p:cNvPr id="13" name="Text 11"/>
          <p:cNvSpPr/>
          <p:nvPr/>
        </p:nvSpPr>
        <p:spPr>
          <a:xfrm>
            <a:off x="1060704" y="3749040"/>
            <a:ext cx="43799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ročná energetická úspora: priamy výmenník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53328" y="2523744"/>
            <a:ext cx="5157216" cy="2139696"/>
          </a:xfrm>
          <a:prstGeom prst="roundRect">
            <a:avLst>
              <a:gd name="adj" fmla="val 6410"/>
            </a:avLst>
          </a:prstGeom>
          <a:solidFill>
            <a:srgbClr val="F1DDCE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2871216"/>
            <a:ext cx="462686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5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€4,280</a:t>
            </a:r>
            <a:endParaRPr lang="en-US" sz="3500" dirty="0"/>
          </a:p>
        </p:txBody>
      </p:sp>
      <p:sp>
        <p:nvSpPr>
          <p:cNvPr id="16" name="Text 14"/>
          <p:cNvSpPr/>
          <p:nvPr/>
        </p:nvSpPr>
        <p:spPr>
          <a:xfrm>
            <a:off x="6300216" y="3749040"/>
            <a:ext cx="4517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ročná energetická úspora: samostatné TČ bazéna (COP=4)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5157216"/>
            <a:ext cx="10378440" cy="649224"/>
          </a:xfrm>
          <a:prstGeom prst="roundRect">
            <a:avLst>
              <a:gd name="adj" fmla="val 21127"/>
            </a:avLst>
          </a:prstGeom>
          <a:solidFill>
            <a:srgbClr val="F1DDCE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5285232"/>
            <a:ext cx="9966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Chýba CAPEX, servis, vzduchotechnika haly a ceny podľa skutočnej zmluvy.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INVESTIČNÉ ROZHODNUTIE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Cena zariadenia môže zmeniť záver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Priamy výmenník: 20-ročné NPV pri 6 % diskonte; rozpočtové scenáre, nie ponuky.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2025 · výskum, nie meranie prevádzky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207008" y="2633472"/>
            <a:ext cx="315468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35608" y="290779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2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€45k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417320" y="3794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1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NPV +€71k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4718304" y="2633472"/>
            <a:ext cx="315468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46904" y="290779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2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€75k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928616" y="3794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1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NPV +€34k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8229600" y="2633472"/>
            <a:ext cx="315468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0" y="290779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2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€110k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439912" y="3794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1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NPV €-9k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225296" y="5294376"/>
            <a:ext cx="9838944" cy="685800"/>
          </a:xfrm>
          <a:prstGeom prst="roundRect">
            <a:avLst>
              <a:gd name="adj" fmla="val 20000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44752" y="5422392"/>
            <a:ext cx="94274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 daných predpokladov je hranica NPV≈0 okolo 103 tis. € inštalovaného CAPEX.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TEPLOTA A BEZPEČNOSŤ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Pohodlie bazéna aj pevná hranica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používa rezervu voči publikovanému teplotnému limitu.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2025 · výskum, nie meranie prevádzky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88720" y="3602736"/>
            <a:ext cx="9692640" cy="0"/>
          </a:xfrm>
          <a:prstGeom prst="line">
            <a:avLst/>
          </a:prstGeom>
          <a:noFill/>
          <a:ln w="7620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7488936" y="3364992"/>
            <a:ext cx="0" cy="475488"/>
          </a:xfrm>
          <a:prstGeom prst="line">
            <a:avLst/>
          </a:prstGeom>
          <a:noFill/>
          <a:ln w="24130">
            <a:solidFill>
              <a:srgbClr val="267F7C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8167421" y="3172968"/>
            <a:ext cx="0" cy="713232"/>
          </a:xfrm>
          <a:prstGeom prst="line">
            <a:avLst/>
          </a:prstGeom>
          <a:noFill/>
          <a:ln w="25400">
            <a:solidFill>
              <a:srgbClr val="C77049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8555126" y="3236976"/>
            <a:ext cx="0" cy="731520"/>
          </a:xfrm>
          <a:prstGeom prst="line">
            <a:avLst/>
          </a:prstGeom>
          <a:noFill/>
          <a:ln w="25400">
            <a:solidFill>
              <a:srgbClr val="122E39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8942832" y="3136392"/>
            <a:ext cx="0" cy="786384"/>
          </a:xfrm>
          <a:prstGeom prst="line">
            <a:avLst/>
          </a:prstGeom>
          <a:noFill/>
          <a:ln w="38100">
            <a:solidFill>
              <a:srgbClr val="C77049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7150608" y="403250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27.25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29093" y="426110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27.60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16798" y="403250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27.80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04504" y="426110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07008" y="4782312"/>
            <a:ext cx="44805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27.62 °C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1225296" y="546811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ročné maximum Simulinku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477316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Skutočný snímač, dobeh ventilu a účinný právny predpis nie sú otestované.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ODOLNOSŤ PRI PORUCHE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Čo ak teplo nikto nechce?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Servery pracujú nezávisle od bazéna a odberu siete.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2025 · výskum, nie meranie prevádzky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95528" y="2542032"/>
            <a:ext cx="5093208" cy="2743200"/>
          </a:xfrm>
          <a:prstGeom prst="roundRect">
            <a:avLst>
              <a:gd name="adj" fmla="val 5000"/>
            </a:avLst>
          </a:prstGeom>
          <a:solidFill>
            <a:srgbClr val="0E2530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880360"/>
            <a:ext cx="4370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MW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1106424" y="3959352"/>
            <a:ext cx="43342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C8D6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plný návrhový odvod IT tepla musí byť zaistený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9632" y="2551176"/>
            <a:ext cx="5065776" cy="1078992"/>
          </a:xfrm>
          <a:prstGeom prst="roundRect">
            <a:avLst>
              <a:gd name="adj" fmla="val 12712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85292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5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1,727 m³/h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391656" y="3374136"/>
            <a:ext cx="4590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 vodnom spáde 5 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99632" y="3886200"/>
            <a:ext cx="5065776" cy="1408176"/>
          </a:xfrm>
          <a:prstGeom prst="roundRect">
            <a:avLst>
              <a:gd name="adj" fmla="val 9740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416966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N+1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348472" y="4169664"/>
            <a:ext cx="25877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odolnosť pri výpadku jedného modulu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5568696"/>
            <a:ext cx="10351008" cy="548640"/>
          </a:xfrm>
          <a:prstGeom prst="roundRect">
            <a:avLst>
              <a:gd name="adj" fmla="val 25000"/>
            </a:avLst>
          </a:prstGeom>
          <a:solidFill>
            <a:srgbClr val="F1DDCE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33856" y="5696712"/>
            <a:ext cx="9939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Tepelná akumulácia nenahradí prietok: čerpadlá vyžadujú UPS a redundanciu.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SCENÁRE PORÚCH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Dobrý model musí odhaliť aj nebezpečie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Nezávislý model chladenia: 6 hodinových skúšok, 5-sekundový krok, nádrž 10 m³.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2025 · výskum, nie meranie prevádzky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22960" y="2468880"/>
            <a:ext cx="10543032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3272" y="2670048"/>
            <a:ext cx="219456" cy="219456"/>
          </a:xfrm>
          <a:prstGeom prst="ellipse">
            <a:avLst>
              <a:gd name="adj" fmla="val 62500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81328" y="2578608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Rezerva do 30 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52360" y="2587752"/>
            <a:ext cx="3502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Bez prekročenia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3236976"/>
            <a:ext cx="10543032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3272" y="3438144"/>
            <a:ext cx="219456" cy="219456"/>
          </a:xfrm>
          <a:prstGeom prst="ellipse">
            <a:avLst>
              <a:gd name="adj" fmla="val 62500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81328" y="3346704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Rezerva až po 5 min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52360" y="3355848"/>
            <a:ext cx="3502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Prehriatie zistené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4005072"/>
            <a:ext cx="10543032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" y="4206240"/>
            <a:ext cx="219456" cy="219456"/>
          </a:xfrm>
          <a:prstGeom prst="ellipse">
            <a:avLst>
              <a:gd name="adj" fmla="val 62500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81328" y="4114800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Pokles výkonu v horúčave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52360" y="4123944"/>
            <a:ext cx="3502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Deficit zistený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" y="4773168"/>
            <a:ext cx="10543032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3272" y="4974336"/>
            <a:ext cx="219456" cy="219456"/>
          </a:xfrm>
          <a:prstGeom prst="ellipse">
            <a:avLst>
              <a:gd name="adj" fmla="val 62500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81328" y="4882896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Porucha obehového čerpadla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52360" y="4892040"/>
            <a:ext cx="3502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Strata prietoku — alarm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9264" y="5870448"/>
            <a:ext cx="10195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Nebezpečné prípady znamenajú správne detegovanú poruchu, nie úspešnú prevádzku.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KVALITA DÔKAZOV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Overiť model neznamená certifikovať prevádzku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Existuje register noriem, nie potvrdenie zhody bez licencovaných textov a skúšok.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2025 · výskum, nie meranie prevádzky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2670048" cy="1024128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660904"/>
            <a:ext cx="2304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749808" y="3118104"/>
            <a:ext cx="2304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s definíciami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64992" y="2523744"/>
            <a:ext cx="2670048" cy="1024128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7872" y="2660904"/>
            <a:ext cx="2304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3547872" y="3118104"/>
            <a:ext cx="2304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normových požiadaviek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63056" y="2523744"/>
            <a:ext cx="2670048" cy="1024128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2660904"/>
            <a:ext cx="2304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6345936" y="3118104"/>
            <a:ext cx="2304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prípadov použitia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0" y="2523744"/>
            <a:ext cx="2670048" cy="1024128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2660904"/>
            <a:ext cx="2304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0" y="3118104"/>
            <a:ext cx="2304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štandardných signálov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4023360"/>
            <a:ext cx="10488168" cy="1216152"/>
          </a:xfrm>
          <a:prstGeom prst="roundRect">
            <a:avLst>
              <a:gd name="adj" fmla="val 11278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33856" y="433425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/ 36</a:t>
            </a:r>
            <a:endParaRPr lang="en-US" sz="3100" dirty="0"/>
          </a:p>
        </p:txBody>
      </p:sp>
      <p:sp>
        <p:nvSpPr>
          <p:cNvPr id="25" name="Text 23"/>
          <p:cNvSpPr/>
          <p:nvPr/>
        </p:nvSpPr>
        <p:spPr>
          <a:xfrm>
            <a:off x="3730752" y="4416552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prešlo softvérovými testami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918704" y="4343400"/>
            <a:ext cx="786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8705088" y="4389120"/>
            <a:ext cx="21214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ostáva zablokovaných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32104" y="5559552"/>
            <a:ext cx="10469880" cy="585216"/>
          </a:xfrm>
          <a:prstGeom prst="roundRect">
            <a:avLst>
              <a:gd name="adj" fmla="val 23438"/>
            </a:avLst>
          </a:prstGeom>
          <a:solidFill>
            <a:srgbClr val="F1DDCE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568756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PUE=1,36 je predpoklad. Oficiálne ERF a WUE potrebujú merače.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PRÍPADY VYUŽITIA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Čo projekt prináša rôznym aktérom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Návštevník vidí teplú vodu, prevádzkovateľ potrebuje bezpečný a merateľný systém.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2025 · výskum, nie meranie prevádzky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49808" y="2505456"/>
            <a:ext cx="5065776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679192"/>
            <a:ext cx="50292" cy="777240"/>
          </a:xfrm>
          <a:prstGeom prst="rect">
            <a:avLst>
              <a:gd name="adj" fmla="val 272727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651760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Návštevník bazéna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69848" y="3008376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Príjemná voda a možná úspora energií prevádzky.</a:t>
            </a:r>
            <a:endParaRPr lang="en-US" sz="1210" dirty="0"/>
          </a:p>
        </p:txBody>
      </p:sp>
      <p:sp>
        <p:nvSpPr>
          <p:cNvPr id="15" name="Shape 13"/>
          <p:cNvSpPr/>
          <p:nvPr/>
        </p:nvSpPr>
        <p:spPr>
          <a:xfrm>
            <a:off x="6035040" y="2505456"/>
            <a:ext cx="5074920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2679192"/>
            <a:ext cx="50292" cy="777240"/>
          </a:xfrm>
          <a:prstGeom prst="rect">
            <a:avLst>
              <a:gd name="adj" fmla="val 272727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65176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Prevádzkovateľ bazéna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30083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Predikcia tepla, ochrana teploty a záložný režim.</a:t>
            </a:r>
            <a:endParaRPr lang="en-US" sz="1210" dirty="0"/>
          </a:p>
        </p:txBody>
      </p:sp>
      <p:sp>
        <p:nvSpPr>
          <p:cNvPr id="19" name="Shape 17"/>
          <p:cNvSpPr/>
          <p:nvPr/>
        </p:nvSpPr>
        <p:spPr>
          <a:xfrm>
            <a:off x="749808" y="3950208"/>
            <a:ext cx="5065776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123944"/>
            <a:ext cx="50292" cy="777240"/>
          </a:xfrm>
          <a:prstGeom prst="rect">
            <a:avLst>
              <a:gd name="adj" fmla="val 272727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096512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Prevádzkovateľ DC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69848" y="4453128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Rekuperácia bez závislosti bezpečnosti IT na odbere tepla.</a:t>
            </a:r>
            <a:endParaRPr lang="en-US" sz="1210" dirty="0"/>
          </a:p>
        </p:txBody>
      </p:sp>
      <p:sp>
        <p:nvSpPr>
          <p:cNvPr id="23" name="Shape 21"/>
          <p:cNvSpPr/>
          <p:nvPr/>
        </p:nvSpPr>
        <p:spPr>
          <a:xfrm>
            <a:off x="6035040" y="3950208"/>
            <a:ext cx="5074920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99632" y="4123944"/>
            <a:ext cx="50292" cy="777240"/>
          </a:xfrm>
          <a:prstGeom prst="rect">
            <a:avLst>
              <a:gd name="adj" fmla="val 272727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409651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Teplovod / mesto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55080" y="44531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Ďalší tepelný zdroj a menej plynového krytia v modeli.</a:t>
            </a:r>
            <a:endParaRPr lang="en-US" sz="121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ĎALŠIE KROKY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 simulácie k technickému projektu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Výsledok potrebuje etapy overenia, nie okamžitý nákup.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2025 · výskum, nie meranie prevádzky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68096" y="2615184"/>
            <a:ext cx="2615184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916936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Zmerať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41832" y="3749040"/>
            <a:ext cx="21762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výkon, teploty, prietoky a E_IT/E_DC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566160" y="2615184"/>
            <a:ext cx="2615184" cy="2423160"/>
          </a:xfrm>
          <a:prstGeom prst="roundRect">
            <a:avLst>
              <a:gd name="adj" fmla="val 5660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9896" y="2916936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Vybrať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739896" y="3749040"/>
            <a:ext cx="21762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TČ a výmenník podľa výrobcom potvrdených parametrov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64224" y="2615184"/>
            <a:ext cx="2615184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2916936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Navrhnúť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37960" y="3749040"/>
            <a:ext cx="21762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Hydraulika, UPS, záložné chladenie a bezpečnostné funkcie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62288" y="2615184"/>
            <a:ext cx="2615184" cy="2423160"/>
          </a:xfrm>
          <a:prstGeom prst="roundRect">
            <a:avLst>
              <a:gd name="adj" fmla="val 5660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36024" y="2916936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Otestovať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336024" y="3749040"/>
            <a:ext cx="21762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Poruchové testy, platné normy a prevzatie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5413248"/>
            <a:ext cx="10588752" cy="630936"/>
          </a:xfrm>
          <a:prstGeom prst="roundRect">
            <a:avLst>
              <a:gd name="adj" fmla="val 21739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6696" y="5541264"/>
            <a:ext cx="10177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Bez výrobných parametrov a skúšok je objednávka predčasná.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E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57200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30" kern="0" dirty="0">
                <a:solidFill>
                  <a:srgbClr val="9EC4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307592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Čo už vieme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86384" y="2578608"/>
            <a:ext cx="329184" cy="329184"/>
          </a:xfrm>
          <a:prstGeom prst="ellipse">
            <a:avLst>
              <a:gd name="adj" fmla="val 41667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53312" y="2487168"/>
            <a:ext cx="9811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E8F0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Serverové teplo možno v modeli rozdeliť medzi viac odberateľov.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6384" y="3474720"/>
            <a:ext cx="329184" cy="329184"/>
          </a:xfrm>
          <a:prstGeom prst="ellipse">
            <a:avLst>
              <a:gd name="adj" fmla="val 41667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53312" y="3383280"/>
            <a:ext cx="9811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E8F0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Priamy ohrev bazéna pri 35 °C vyzerá jednoduchší aj ekonomickejší než samostatné TČ.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86384" y="4370832"/>
            <a:ext cx="329184" cy="329184"/>
          </a:xfrm>
          <a:prstGeom prst="ellipse">
            <a:avLst>
              <a:gd name="adj" fmla="val 41667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53312" y="4279392"/>
            <a:ext cx="9811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E8F0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Rekuperácia nikdy nesmie byť jediným chladením dátového centra.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5879592"/>
            <a:ext cx="10570464" cy="0"/>
          </a:xfrm>
          <a:prstGeom prst="line">
            <a:avLst/>
          </a:prstGeom>
          <a:noFill/>
          <a:ln w="12700">
            <a:solidFill>
              <a:srgbClr val="4E6570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822960" y="6044184"/>
            <a:ext cx="9509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B9CC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Výskumný záver, nie povolenie na realizáciu.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 OTÁZKY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Ako čítať údaje tejto prezentácie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Kľúčové hodnoty pochádzajú z uložených výstupov modelu a majú status dôkazu.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2025 · výskum, nie meranie prevádzky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31520" y="2459736"/>
            <a:ext cx="5074920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2633472"/>
            <a:ext cx="50292" cy="777240"/>
          </a:xfrm>
          <a:prstGeom prst="rect">
            <a:avLst>
              <a:gd name="adj" fmla="val 272727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60604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VYPOČÍTANÉ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96265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2025, 8760 h, Simulink po 300 s a nezávislé bilančné kontroly.</a:t>
            </a:r>
            <a:endParaRPr lang="en-US" sz="1210" dirty="0"/>
          </a:p>
        </p:txBody>
      </p:sp>
      <p:sp>
        <p:nvSpPr>
          <p:cNvPr id="15" name="Shape 13"/>
          <p:cNvSpPr/>
          <p:nvPr/>
        </p:nvSpPr>
        <p:spPr>
          <a:xfrm>
            <a:off x="6062472" y="2459736"/>
            <a:ext cx="5038344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27064" y="2633472"/>
            <a:ext cx="50292" cy="777240"/>
          </a:xfrm>
          <a:prstGeom prst="rect">
            <a:avLst>
              <a:gd name="adj" fmla="val 272727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2606040"/>
            <a:ext cx="4581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PREDPOKLAD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82512" y="2962656"/>
            <a:ext cx="4535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MW IT, PUE=1,36, modelový COP, rozpočty a 500m³ bazén.</a:t>
            </a:r>
            <a:endParaRPr lang="en-US" sz="1210" dirty="0"/>
          </a:p>
        </p:txBody>
      </p:sp>
      <p:sp>
        <p:nvSpPr>
          <p:cNvPr id="19" name="Shape 17"/>
          <p:cNvSpPr/>
          <p:nvPr/>
        </p:nvSpPr>
        <p:spPr>
          <a:xfrm>
            <a:off x="731520" y="3922776"/>
            <a:ext cx="5074920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4096512"/>
            <a:ext cx="50292" cy="777240"/>
          </a:xfrm>
          <a:prstGeom prst="rect">
            <a:avLst>
              <a:gd name="adj" fmla="val 272727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06908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EŠTE OVERIŤ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442569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OEM výkony, COP, skutočné merania, bezpečnosť a normy.</a:t>
            </a:r>
            <a:endParaRPr lang="en-US" sz="1210" dirty="0"/>
          </a:p>
        </p:txBody>
      </p:sp>
      <p:sp>
        <p:nvSpPr>
          <p:cNvPr id="23" name="Shape 21"/>
          <p:cNvSpPr/>
          <p:nvPr/>
        </p:nvSpPr>
        <p:spPr>
          <a:xfrm>
            <a:off x="6062472" y="3922776"/>
            <a:ext cx="5038344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27064" y="4096512"/>
            <a:ext cx="50292" cy="777240"/>
          </a:xfrm>
          <a:prstGeom prst="rect">
            <a:avLst>
              <a:gd name="adj" fmla="val 272727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2512" y="4069080"/>
            <a:ext cx="4581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ZÁKLADNÉ ZDROJE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82512" y="4425696"/>
            <a:ext cx="4535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 POWER • Eurostat SK • Carrier / Eurovent • EU 2024/1364 • STN EN 15288.</a:t>
            </a:r>
            <a:endParaRPr lang="en-US" sz="1210" dirty="0"/>
          </a:p>
        </p:txBody>
      </p:sp>
      <p:sp>
        <p:nvSpPr>
          <p:cNvPr id="27" name="Text 25"/>
          <p:cNvSpPr/>
          <p:nvPr/>
        </p:nvSpPr>
        <p:spPr>
          <a:xfrm>
            <a:off x="822960" y="5623560"/>
            <a:ext cx="10561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Prílohy: MATLAB/Simulink, KPI CSV/JSON, 56 normových bodov, 36 use-cases a QA.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Independent research study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Teplo dátového centra: zo serverov do bazéna a siete</dc:title>
  <dc:subject>Data-centre waste heat: 10 MW IT, district heating and swimming pool — model-based feasibility study</dc:subject>
  <dc:creator>Engineering Research</dc:creator>
  <cp:lastModifiedBy>Engineering Research</cp:lastModifiedBy>
  <cp:revision>1</cp:revision>
  <dcterms:created xsi:type="dcterms:W3CDTF">2026-10-23T16:26:27Z</dcterms:created>
  <dcterms:modified xsi:type="dcterms:W3CDTF">2026-10-23T16:26:27Z</dcterms:modified>
</cp:coreProperties>
</file>